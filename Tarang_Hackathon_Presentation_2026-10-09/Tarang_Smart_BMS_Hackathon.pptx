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0900aa32014084" /><Relationship Type="http://schemas.openxmlformats.org/officeDocument/2006/relationships/extended-properties" Target="/docProps/app.xml" Id="R9f3ffd7c66d34803" /><Relationship Type="http://schemas.openxmlformats.org/officeDocument/2006/relationships/officeDocument" Target="/ppt/presentation.xml" Id="R02c2b4e893084fff" /></Relationships>
</file>

<file path=ppt/presentation.xml><?xml version="1.0" encoding="utf-8"?>
<p:presentation xmlns:p="http://schemas.openxmlformats.org/presentationml/2006/main">
  <p:sldMasterIdLst>
    <p:sldMasterId xmlns:r="http://schemas.openxmlformats.org/officeDocument/2006/relationships" id="2147483648" r:id="R72efe7e726734100"/>
  </p:sldMasterIdLst>
  <p:notesMasterIdLst>
    <p:notesMasterId xmlns:r="http://schemas.openxmlformats.org/officeDocument/2006/relationships" r:id="R382208618027404d"/>
  </p:notesMasterIdLst>
  <p:sldIdLst>
    <p:sldId xmlns:r="http://schemas.openxmlformats.org/officeDocument/2006/relationships" id="256" r:id="Rcc23a459652940c0"/>
    <p:sldId xmlns:r="http://schemas.openxmlformats.org/officeDocument/2006/relationships" id="257" r:id="Rc5475ad417594933"/>
    <p:sldId xmlns:r="http://schemas.openxmlformats.org/officeDocument/2006/relationships" id="258" r:id="R20c2f7b2a7d04d72"/>
    <p:sldId xmlns:r="http://schemas.openxmlformats.org/officeDocument/2006/relationships" id="259" r:id="R63666386ab7f49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4392254c5c494a" /><Relationship Type="http://schemas.openxmlformats.org/officeDocument/2006/relationships/slideMaster" Target="/ppt/slideMasters/slideMaster1.xml" Id="R72efe7e726734100" /><Relationship Type="http://schemas.openxmlformats.org/officeDocument/2006/relationships/notesMaster" Target="/ppt/notesMasters/notesMaster1.xml" Id="R382208618027404d" /><Relationship Type="http://schemas.openxmlformats.org/officeDocument/2006/relationships/presProps" Target="/ppt/presProps.xml" Id="Rd70485fc10424402" /><Relationship Type="http://schemas.openxmlformats.org/officeDocument/2006/relationships/tableStyles" Target="/ppt/tableStyles.xml" Id="Rd716a023eb764afa" /><Relationship Type="http://schemas.openxmlformats.org/officeDocument/2006/relationships/slide" Target="/ppt/slides/slide1.xml" Id="Rcc23a459652940c0" /><Relationship Type="http://schemas.openxmlformats.org/officeDocument/2006/relationships/slide" Target="/ppt/slides/slide2.xml" Id="Rc5475ad417594933" /><Relationship Type="http://schemas.openxmlformats.org/officeDocument/2006/relationships/slide" Target="/ppt/slides/slide3.xml" Id="R20c2f7b2a7d04d72" /><Relationship Type="http://schemas.openxmlformats.org/officeDocument/2006/relationships/slide" Target="/ppt/slides/slide4.xml" Id="R63666386ab7f49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d36e38135543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f739255e0b42af" /><Relationship Type="http://schemas.openxmlformats.org/officeDocument/2006/relationships/notesMaster" Target="/ppt/notesMasters/notesMaster1.xml" Id="R124de82f7b0f4d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6b6718857e4cca" /><Relationship Type="http://schemas.openxmlformats.org/officeDocument/2006/relationships/notesMaster" Target="/ppt/notesMasters/notesMaster1.xml" Id="R9e3d596ed1514a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764595ff1c4048" /><Relationship Type="http://schemas.openxmlformats.org/officeDocument/2006/relationships/notesMaster" Target="/ppt/notesMasters/notesMaster1.xml" Id="R52d19a88968941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def01c1e5d44e4" /><Relationship Type="http://schemas.openxmlformats.org/officeDocument/2006/relationships/notesMaster" Target="/ppt/notesMasters/notesMaster1.xml" Id="Re8498aec0f9043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a:t>
            </a:r>
          </a:p>
          <a:p xmlns:a="http://schemas.openxmlformats.org/drawingml/2006/main">
            <a:r>
              <a:t>Battery performance changes with load and temperature, so teams need to see voltage, current and temperature together. Tarang's Smart BMS Monitoring System connects battery measurements to a software view that can show trends and configured abnormal readings.</a:t>
            </a:r>
          </a:p>
          <a:p xmlns:a="http://schemas.openxmlformats.org/drawingml/2006/main">
            <a:r>
              <a:t>The software foundation is implemented. The frontend currently receives simulated telemetry from the backend. No physical sensor or embedded controller is connected yet. The image is conceptual artwork, not a photograph of our prototype.</a:t>
            </a:r>
          </a:p>
          <a:p xmlns:a="http://schemas.openxmlformats.org/drawingml/2006/main">
            <a:r>
              <a:t>Our value proposition is to connect battery measurements with actionable software insights for more visible and manageable battery operation.</a:t>
            </a:r>
          </a:p>
          <a:p xmlns:a="http://schemas.openxmlformats.org/drawingml/2006/main">
            <a:r>
              <a:t>Judge cue: If asked whether this is live hardware, say no. The displayed values come from the development mock. Physical integration and measurement validation are next.</a:t>
            </a:r>
          </a:p>
          <a:p xmlns:a="http://schemas.openxmlformats.org/drawingml/2006/main">
            <a:r>
              <a:t>Sources: README.md; frontend2/index.html; frontend2/app.js; backend/README.md; hardware/README.md.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seconds.</a:t>
            </a:r>
          </a:p>
          <a:p xmlns:a="http://schemas.openxmlformats.org/drawingml/2006/main">
            <a:r>
              <a:t>The software architecture starts with a telemetry schema, not a hardware assumption. The API requires a device identifier, timestamp, voltage, current, SOC and four cell temperatures. Power is calculated when the sender omits it. SOH remains optional because no validated estimator is present.</a:t>
            </a:r>
          </a:p>
          <a:p xmlns:a="http://schemas.openxmlformats.org/drawingml/2006/main">
            <a:r>
              <a:t>The intended physical path is a battery pack, measurement channels and ESP32 firmware. The repository does not identify selected sensor part numbers, and this path has not been integrated. The backend provides an HTTP POST endpoint at /api/telemetry. The development mock currently supplies samples.</a:t>
            </a:r>
          </a:p>
          <a:p xmlns:a="http://schemas.openxmlformats.org/drawingml/2006/main">
            <a:r>
              <a:t>FastAPI passes incoming payloads through Pydantic validation. SQLAlchemy stores telemetry and alert rows in SQLite by default. The status endpoint combines the latest record with history, four-channel averages and maximums, risk, prediction, alerts, connection freshness and a demo fan indicator. The frontend polls that status endpoint every five seconds.</a:t>
            </a:r>
          </a:p>
          <a:p xmlns:a="http://schemas.openxmlformats.org/drawingml/2006/main">
            <a:r>
              <a:t>Risk classification uses the hottest current sensor and recent hottest-sensor trend against a configured threshold. The included default of 55 degrees Celsius came from the earlier UI and is not a validated safe limit. The fan percentage is calculated for display only. There is no relay command, shutdown, or cell-balancing control.</a:t>
            </a:r>
          </a:p>
          <a:p xmlns:a="http://schemas.openxmlformats.org/drawingml/2006/main">
            <a:r>
              <a:t>The XGBoost artifact predicts the four-sensor average about ten minutes ahead from CALCE single-cell cycling traces. The held-out CALCE test report records MAE 0.952 degrees Celsius across 8,437 samples. This does not establish performance on a four-cell pack, and the estimate is advisory.</a:t>
            </a:r>
          </a:p>
          <a:p xmlns:a="http://schemas.openxmlformats.org/drawingml/2006/main">
            <a:r>
              <a:t>Judge cues: Accuracy is unknown until calibrated against reference instruments. The REST endpoint is ready, while the ESP32 sender is pending. Hardware protection remains authoritative.</a:t>
            </a:r>
          </a:p>
          <a:p xmlns:a="http://schemas.openxmlformats.org/drawingml/2006/main">
            <a:r>
              <a:t>Sources: docs/ARCHITECTURE.md; docs/API.md; backend/app/schemas/telemetry.py; backend/app/api/telemetry.py; backend/app/services/risk_service.py; backend/app/services/mock_telemetry_service.py; ml/models/metrics.json.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 seconds.</a:t>
            </a:r>
          </a:p>
          <a:p xmlns:a="http://schemas.openxmlformats.org/drawingml/2006/main">
            <a:r>
              <a:t>Battery monitoring can be useful in electric mobility test settings, stationary storage and backup-power systems, and industrial battery-bank maintenance. These are potential applications for this architecture, not deployments completed by Tarang.</a:t>
            </a:r>
          </a:p>
          <a:p xmlns:a="http://schemas.openxmlformats.org/drawingml/2006/main">
            <a:r>
              <a:t>The current software presents telemetry in one dashboard, stores history and records configured risk alerts. Operators could use those records to review an abnormal reading and trace whether it followed a load or temperature change. The system does not establish that an incident was prevented or that safety improved.</a:t>
            </a:r>
          </a:p>
          <a:p xmlns:a="http://schemas.openxmlformats.org/drawingml/2006/main">
            <a:r>
              <a:t>The API includes a device identifier and per-device query paths, which gives a starting point for monitoring more than one unit. The current telemetry contract has four fixed temperature channels. Adding modules, sensor types or additional channels would require schema and interface changes. Database migration and operational load testing would also be needed before expanding beyond the prototype.</a:t>
            </a:r>
          </a:p>
          <a:p xmlns:a="http://schemas.openxmlformats.org/drawingml/2006/main">
            <a:r>
              <a:t>Before use outside a lab, the team needs to choose sensors compatible with the pack, calibrate them, verify wiring and controller behavior, test network loss and stale readings, and set thresholds from cell specifications. The 55 degree demo threshold must not be treated as a deployment limit.</a:t>
            </a:r>
          </a:p>
          <a:p xmlns:a="http://schemas.openxmlformats.org/drawingml/2006/main">
            <a:r>
              <a:t>Judge cue: EV, storage or grid use is a target context after integration, calibration and safety review. There is no field test or customer deployment in the repository.</a:t>
            </a:r>
          </a:p>
          <a:p xmlns:a="http://schemas.openxmlformats.org/drawingml/2006/main">
            <a:r>
              <a:t>Sources: docs/ARCHITECTURE.md; docs/API.md; hardware/README.md; frontend2/app.js; backend/app/schemas/telemetry.py.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a:t>
            </a:r>
          </a:p>
          <a:p xmlns:a="http://schemas.openxmlformats.org/drawingml/2006/main">
            <a:r>
              <a:t>The next milestone is physical integration, followed by calibration against appropriate reference instruments. The team should record voltage, current and temperature error rather than assume sensor accuracy from a part datasheet. It should also measure how long a sample takes to reach the API and dashboard, and how often delivery succeeds under normal and degraded network conditions.</a:t>
            </a:r>
          </a:p>
          <a:p xmlns:a="http://schemas.openxmlformats.org/drawingml/2006/main">
            <a:r>
              <a:t>Fault tests should use controlled inputs around thresholds agreed from actual cell and pack specifications. The current threshold in the demo configuration is not a verified trip point. The team should test stale or missing samples, out-of-range values, and alert clearing behavior before connecting any real actuator.</a:t>
            </a:r>
          </a:p>
          <a:p xmlns:a="http://schemas.openxmlformats.org/drawingml/2006/main">
            <a:r>
              <a:t>The six validation measures on the slide are proposed. No values have been collected yet. Reliability and safety review must precede any field deployment, with the physical BMS retaining protection authority.</a:t>
            </a:r>
          </a:p>
          <a:p xmlns:a="http://schemas.openxmlformats.org/drawingml/2006/main">
            <a:r>
              <a:t>Our vision is to connect reliable battery measurements with a clear, scalable and thoroughly validated monitoring experience. We are Tarang.</a:t>
            </a:r>
          </a:p>
          <a:p xmlns:a="http://schemas.openxmlformats.org/drawingml/2006/main">
            <a:r>
              <a:t>Judge cue: Do not give accuracy, latency, delivery-rate or detection numbers until controlled tests document the method and reference equipment.</a:t>
            </a:r>
          </a:p>
          <a:p xmlns:a="http://schemas.openxmlformats.org/drawingml/2006/main">
            <a:r>
              <a:t>Sources: hardware/README.md; docs/ARCHITECTURE.md; docs/API.md; backend/app/core/config.py; backend/app/services/risk_service.py.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c3798bd42b42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a9a80063ff4c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f94ec1107f43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92bfd4511742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02fa4bd6f041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5975d071da4a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C7F0B0-A019-4B89-8ED9-EDB7F365F42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83DA1A-C8AC-4A80-8410-5C1E73C760B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8066D2-E855-4AB4-9F99-B5DA6E4065F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6E0032-EE1F-4FAD-8B3C-07EB2F111D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AA8B1DF-FDEE-450D-A2FD-31C2884AA03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C7FFBB-1C2C-4D88-8AA4-0454691B8D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FB71C3-F568-492E-88EE-352DE924869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DDB363-0ED9-4936-8B35-203C0D737B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10444E-9046-4028-B986-15A16D23A8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A3CED0-FFBE-4334-8557-2D53BD8C8E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12860fa7244122" /><Relationship Type="http://schemas.openxmlformats.org/officeDocument/2006/relationships/slideLayout" Target="/ppt/slideLayouts/slideLayout1.xml" Id="R474aede25e124b67" /><Relationship Type="http://schemas.openxmlformats.org/officeDocument/2006/relationships/slideLayout" Target="/ppt/slideLayouts/slideLayout2.xml" Id="R867fc050327e4efe" /><Relationship Type="http://schemas.openxmlformats.org/officeDocument/2006/relationships/slideLayout" Target="/ppt/slideLayouts/slideLayout3.xml" Id="Re4509d6cd2d64417" /><Relationship Type="http://schemas.openxmlformats.org/officeDocument/2006/relationships/slideLayout" Target="/ppt/slideLayouts/slideLayout4.xml" Id="Rfffc52b0ecd0499e" /><Relationship Type="http://schemas.openxmlformats.org/officeDocument/2006/relationships/slideLayout" Target="/ppt/slideLayouts/slideLayout5.xml" Id="Rc169794f12124496" /><Relationship Type="http://schemas.openxmlformats.org/officeDocument/2006/relationships/slideLayout" Target="/ppt/slideLayouts/slideLayout6.xml" Id="Rbf2fc9cb9e1442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4aede25e124b67"/>
    <p:sldLayoutId xmlns:r="http://schemas.openxmlformats.org/officeDocument/2006/relationships" id="2147483650" r:id="R867fc050327e4efe"/>
    <p:sldLayoutId xmlns:r="http://schemas.openxmlformats.org/officeDocument/2006/relationships" id="2147483651" r:id="Re4509d6cd2d64417"/>
    <p:sldLayoutId xmlns:r="http://schemas.openxmlformats.org/officeDocument/2006/relationships" id="2147483652" r:id="Rfffc52b0ecd0499e"/>
    <p:sldLayoutId xmlns:r="http://schemas.openxmlformats.org/officeDocument/2006/relationships" id="2147483653" r:id="Rc169794f12124496"/>
    <p:sldLayoutId xmlns:r="http://schemas.openxmlformats.org/officeDocument/2006/relationships" id="2147483654" r:id="Rbf2fc9cb9e1442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b80dcedc4a64b48" /><Relationship Type="http://schemas.openxmlformats.org/officeDocument/2006/relationships/image" Target="/ppt/media/image.png" Id="R5013d045ff0847ee" /><Relationship Type="http://schemas.openxmlformats.org/officeDocument/2006/relationships/notesSlide" Target="/ppt/notesSlides/notesSlide1.xml" Id="R9a568676330245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c79cef313e04ced" /><Relationship Type="http://schemas.openxmlformats.org/officeDocument/2006/relationships/notesSlide" Target="/ppt/notesSlides/notesSlide2.xml" Id="R6e3fe6a7451843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6d98769440b40e9" /><Relationship Type="http://schemas.openxmlformats.org/officeDocument/2006/relationships/image" Target="/ppt/media/image2.png" Id="R671983164f2948d4" /><Relationship Type="http://schemas.openxmlformats.org/officeDocument/2006/relationships/notesSlide" Target="/ppt/notesSlides/notesSlide3.xml" Id="Rf044023c1ba74f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f77da80c938401c" /><Relationship Type="http://schemas.openxmlformats.org/officeDocument/2006/relationships/notesSlide" Target="/ppt/notesSlides/notesSlide4.xml" Id="R118013b8b8ac4b76" /></Relationships>
</file>

<file path=ppt/slides/slide1.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8647A0B-BAC8-48CD-9E21-6C77A9D6944F}"/>
              </a:ext>
            </a:extLst>
          </p:cNvPr>
          <p:cNvSpPr>
            <a:spLocks xmlns:a="http://schemas.openxmlformats.org/drawingml/2006/main" noGrp="1"/>
          </p:cNvSpPr>
          <p:nvPr/>
        </p:nvSpPr>
        <p:spPr>
          <a:xfrm xmlns:a="http://schemas.openxmlformats.org/drawingml/2006/main">
            <a:off x="571500" y="2571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70821A45-0B00-48A5-8878-035EBB016B32}"/>
              </a:ext>
            </a:extLst>
          </p:cNvPr>
          <p:cNvSpPr>
            <a:spLocks xmlns:a="http://schemas.openxmlformats.org/drawingml/2006/main" noGrp="1"/>
          </p:cNvSpPr>
          <p:nvPr/>
        </p:nvSpPr>
        <p:spPr>
          <a:xfrm xmlns:a="http://schemas.openxmlformats.org/drawingml/2006/main">
            <a:off x="571500" y="523875"/>
            <a:ext cx="457200" cy="28575"/>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50C1727-5FF1-4416-9520-1FB7245DDD2B}"/>
              </a:ext>
            </a:extLst>
          </p:cNvPr>
          <p:cNvSpPr>
            <a:spLocks xmlns:a="http://schemas.openxmlformats.org/drawingml/2006/main" noGrp="1"/>
          </p:cNvSpPr>
          <p:nvPr/>
        </p:nvSpPr>
        <p:spPr>
          <a:xfrm xmlns:a="http://schemas.openxmlformats.org/drawingml/2006/main">
            <a:off x="10829925" y="266700"/>
            <a:ext cx="790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A8BAC6"/>
                </a:solidFill>
                <a:latin typeface="Arial"/>
                <a:ea typeface="Arial"/>
                <a:cs typeface="Arial"/>
              </a:defRPr>
            </a:defPPr>
          </a:lstStyle>
          <a:p xmlns:a="http://schemas.openxmlformats.org/drawingml/2006/main">
            <a:pPr algn="r">
              <a:defRPr sz="975" b="1" i="0">
                <a:solidFill>
                  <a:srgbClr val="A8BAC6"/>
                </a:solidFill>
                <a:latin typeface="Arial"/>
                <a:ea typeface="Arial"/>
                <a:cs typeface="Arial"/>
              </a:defRPr>
            </a:pPr>
            <a:r>
              <a:rPr sz="975" b="1" i="0">
                <a:solidFill>
                  <a:srgbClr val="A8BAC6"/>
                </a:solidFill>
                <a:latin typeface="Arial"/>
                <a:ea typeface="Arial"/>
                <a:cs typeface="Arial"/>
              </a:rPr>
              <a:t>01 / 04</a:t>
            </a:r>
          </a:p>
        </p:txBody>
      </p:sp>
      <p:sp>
        <p:nvSpPr>
          <p:cNvPr id="4" name="">
            <a:extLst xmlns:a="http://schemas.openxmlformats.org/drawingml/2006/main">
              <a:ext uri="{FF2B5EF4-FFF2-40B4-BE49-F238E27FC236}">
                <a16:creationId xmlns:a16="http://schemas.microsoft.com/office/drawing/2014/main" id="{903F1D72-9E9F-4122-86D9-77A0CF960782}"/>
              </a:ext>
            </a:extLst>
          </p:cNvPr>
          <p:cNvSpPr>
            <a:spLocks xmlns:a="http://schemas.openxmlformats.org/drawingml/2006/main" noGrp="1"/>
          </p:cNvSpPr>
          <p:nvPr/>
        </p:nvSpPr>
        <p:spPr>
          <a:xfrm xmlns:a="http://schemas.openxmlformats.org/drawingml/2006/main">
            <a:off x="571500" y="866775"/>
            <a:ext cx="5238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defPPr algn="l">
              <a:defRPr sz="3600" b="1" i="0">
                <a:solidFill>
                  <a:srgbClr val="F3F7FA"/>
                </a:solidFill>
                <a:latin typeface="Arial"/>
                <a:ea typeface="Arial"/>
                <a:cs typeface="Arial"/>
              </a:defRPr>
            </a:defPPr>
          </a:lstStyle>
          <a:p xmlns:a="http://schemas.openxmlformats.org/drawingml/2006/main">
            <a:pPr algn="l">
              <a:defRPr sz="3600" b="1" i="0">
                <a:solidFill>
                  <a:srgbClr val="F3F7FA"/>
                </a:solidFill>
                <a:latin typeface="Arial"/>
                <a:ea typeface="Arial"/>
                <a:cs typeface="Arial"/>
              </a:defRPr>
            </a:pPr>
            <a:r>
              <a:rPr sz="3600" b="1" i="0">
                <a:solidFill>
                  <a:srgbClr val="F3F7FA"/>
                </a:solidFill>
                <a:latin typeface="Arial"/>
                <a:ea typeface="Arial"/>
                <a:cs typeface="Arial"/>
              </a:rPr>
              <a:t>SMART BMS</a:t>
            </a:r>
          </a:p>
          <a:p xmlns:a="http://schemas.openxmlformats.org/drawingml/2006/main">
            <a:pPr algn="l">
              <a:defRPr sz="3600" b="1" i="0">
                <a:solidFill>
                  <a:srgbClr val="F3F7FA"/>
                </a:solidFill>
                <a:latin typeface="Arial"/>
                <a:ea typeface="Arial"/>
                <a:cs typeface="Arial"/>
              </a:defRPr>
            </a:pPr>
            <a:r>
              <a:rPr sz="3600" b="1" i="0">
                <a:solidFill>
                  <a:srgbClr val="F3F7FA"/>
                </a:solidFill>
                <a:latin typeface="Arial"/>
                <a:ea typeface="Arial"/>
                <a:cs typeface="Arial"/>
              </a:rPr>
              <a:t>MONITORING SYSTEM</a:t>
            </a:r>
          </a:p>
        </p:txBody>
      </p:sp>
      <p:sp>
        <p:nvSpPr>
          <p:cNvPr id="5" name="">
            <a:extLst xmlns:a="http://schemas.openxmlformats.org/drawingml/2006/main">
              <a:ext uri="{FF2B5EF4-FFF2-40B4-BE49-F238E27FC236}">
                <a16:creationId xmlns:a16="http://schemas.microsoft.com/office/drawing/2014/main" id="{3B1D62ED-EA0A-4C0F-9907-65B6F0C8B5B5}"/>
              </a:ext>
            </a:extLst>
          </p:cNvPr>
          <p:cNvSpPr>
            <a:spLocks xmlns:a="http://schemas.openxmlformats.org/drawingml/2006/main" noGrp="1"/>
          </p:cNvSpPr>
          <p:nvPr/>
        </p:nvSpPr>
        <p:spPr>
          <a:xfrm xmlns:a="http://schemas.openxmlformats.org/drawingml/2006/main">
            <a:off x="590550" y="2057400"/>
            <a:ext cx="5095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A8BAC6"/>
                </a:solidFill>
                <a:latin typeface="Arial"/>
                <a:ea typeface="Arial"/>
                <a:cs typeface="Arial"/>
              </a:defRPr>
            </a:defPPr>
          </a:lstStyle>
          <a:p xmlns:a="http://schemas.openxmlformats.org/drawingml/2006/main">
            <a:pPr algn="l">
              <a:defRPr sz="1575" b="0" i="0">
                <a:solidFill>
                  <a:srgbClr val="A8BAC6"/>
                </a:solidFill>
                <a:latin typeface="Arial"/>
                <a:ea typeface="Arial"/>
                <a:cs typeface="Arial"/>
              </a:defRPr>
            </a:pPr>
            <a:r>
              <a:rPr sz="1575" b="0" i="0">
                <a:solidFill>
                  <a:srgbClr val="A8BAC6"/>
                </a:solidFill>
                <a:latin typeface="Arial"/>
                <a:ea typeface="Arial"/>
                <a:cs typeface="Arial"/>
              </a:rPr>
              <a:t>An Integrated Hardware–Software Platform for Intelligent Battery Monitoring</a:t>
            </a:r>
          </a:p>
        </p:txBody>
      </p:sp>
      <p:sp>
        <p:nvSpPr>
          <p:cNvPr id="6" name="">
            <a:extLst xmlns:a="http://schemas.openxmlformats.org/drawingml/2006/main">
              <a:ext uri="{FF2B5EF4-FFF2-40B4-BE49-F238E27FC236}">
                <a16:creationId xmlns:a16="http://schemas.microsoft.com/office/drawing/2014/main" id="{893902A6-10D5-4C9B-9B9F-D1D866FD82F4}"/>
              </a:ext>
            </a:extLst>
          </p:cNvPr>
          <p:cNvSpPr>
            <a:spLocks xmlns:a="http://schemas.openxmlformats.org/drawingml/2006/main" noGrp="1"/>
          </p:cNvSpPr>
          <p:nvPr/>
        </p:nvSpPr>
        <p:spPr>
          <a:xfrm xmlns:a="http://schemas.openxmlformats.org/drawingml/2006/main">
            <a:off x="590550" y="2800350"/>
            <a:ext cx="1285875" cy="257175"/>
          </a:xfrm>
          <a:prstGeom xmlns:a="http://schemas.openxmlformats.org/drawingml/2006/main" prst="roundRect">
            <a:avLst>
              <a:gd name="adj" fmla="val 48148"/>
            </a:avLst>
          </a:prstGeom>
          <a:solidFill xmlns:a="http://schemas.openxmlformats.org/drawingml/2006/main">
            <a:srgbClr val="102B3A"/>
          </a:solidFill>
          <a:ln xmlns:a="http://schemas.openxmlformats.org/drawingml/2006/main" w="11430">
            <a:solidFill>
              <a:srgbClr val="55D9E8"/>
            </a:solidFill>
            <a:prstDash val="solid"/>
          </a:ln>
        </p:spPr>
      </p:sp>
      <p:sp>
        <p:nvSpPr>
          <p:cNvPr id="7" name="">
            <a:extLst xmlns:a="http://schemas.openxmlformats.org/drawingml/2006/main">
              <a:ext uri="{FF2B5EF4-FFF2-40B4-BE49-F238E27FC236}">
                <a16:creationId xmlns:a16="http://schemas.microsoft.com/office/drawing/2014/main" id="{8F5F58BE-E7E5-4BD2-9163-450520020370}"/>
              </a:ext>
            </a:extLst>
          </p:cNvPr>
          <p:cNvSpPr>
            <a:spLocks xmlns:a="http://schemas.openxmlformats.org/drawingml/2006/main" noGrp="1"/>
          </p:cNvSpPr>
          <p:nvPr/>
        </p:nvSpPr>
        <p:spPr>
          <a:xfrm xmlns:a="http://schemas.openxmlformats.org/drawingml/2006/main">
            <a:off x="666750" y="2857500"/>
            <a:ext cx="11334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55D9E8"/>
                </a:solidFill>
                <a:latin typeface="Arial"/>
                <a:ea typeface="Arial"/>
                <a:cs typeface="Arial"/>
              </a:defRPr>
            </a:defPPr>
          </a:lstStyle>
          <a:p xmlns:a="http://schemas.openxmlformats.org/drawingml/2006/main">
            <a:pPr algn="ctr">
              <a:defRPr sz="900" b="1" i="0">
                <a:solidFill>
                  <a:srgbClr val="55D9E8"/>
                </a:solidFill>
                <a:latin typeface="Arial"/>
                <a:ea typeface="Arial"/>
                <a:cs typeface="Arial"/>
              </a:defRPr>
            </a:pPr>
            <a:r>
              <a:rPr sz="900" b="1" i="0">
                <a:solidFill>
                  <a:srgbClr val="55D9E8"/>
                </a:solidFill>
                <a:latin typeface="Arial"/>
                <a:ea typeface="Arial"/>
                <a:cs typeface="Arial"/>
              </a:rPr>
              <a:t>TARANG</a:t>
            </a:r>
          </a:p>
        </p:txBody>
      </p:sp>
      <p:sp>
        <p:nvSpPr>
          <p:cNvPr id="8" name="">
            <a:extLst xmlns:a="http://schemas.openxmlformats.org/drawingml/2006/main">
              <a:ext uri="{FF2B5EF4-FFF2-40B4-BE49-F238E27FC236}">
                <a16:creationId xmlns:a16="http://schemas.microsoft.com/office/drawing/2014/main" id="{0702FB02-A945-457C-9985-4FF307604D6F}"/>
              </a:ext>
            </a:extLst>
          </p:cNvPr>
          <p:cNvSpPr>
            <a:spLocks xmlns:a="http://schemas.openxmlformats.org/drawingml/2006/main" noGrp="1"/>
          </p:cNvSpPr>
          <p:nvPr/>
        </p:nvSpPr>
        <p:spPr>
          <a:xfrm xmlns:a="http://schemas.openxmlformats.org/drawingml/2006/main">
            <a:off x="590550" y="3324225"/>
            <a:ext cx="5105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3F7FA"/>
                </a:solidFill>
                <a:latin typeface="Arial"/>
                <a:ea typeface="Arial"/>
                <a:cs typeface="Arial"/>
              </a:defRPr>
            </a:defPPr>
          </a:lstStyle>
          <a:p xmlns:a="http://schemas.openxmlformats.org/drawingml/2006/main">
            <a:pPr algn="l">
              <a:defRPr sz="1350" b="0" i="0">
                <a:solidFill>
                  <a:srgbClr val="F3F7FA"/>
                </a:solidFill>
                <a:latin typeface="Arial"/>
                <a:ea typeface="Arial"/>
                <a:cs typeface="Arial"/>
              </a:defRPr>
            </a:pPr>
            <a:r>
              <a:rPr sz="1350" b="0" i="0">
                <a:solidFill>
                  <a:srgbClr val="F3F7FA"/>
                </a:solidFill>
                <a:latin typeface="Arial"/>
                <a:ea typeface="Arial"/>
                <a:cs typeface="Arial"/>
              </a:rPr>
              <a:t>Battery operation is shaped by voltage, current and temperature. A shared view helps teams follow those conditions and spot configured abnormal readings.</a:t>
            </a:r>
          </a:p>
        </p:txBody>
      </p:sp>
      <p:sp>
        <p:nvSpPr>
          <p:cNvPr id="9" name="">
            <a:extLst xmlns:a="http://schemas.openxmlformats.org/drawingml/2006/main">
              <a:ext uri="{FF2B5EF4-FFF2-40B4-BE49-F238E27FC236}">
                <a16:creationId xmlns:a16="http://schemas.microsoft.com/office/drawing/2014/main" id="{2AC3A33F-5711-444F-BA65-D42A33AB546C}"/>
              </a:ext>
            </a:extLst>
          </p:cNvPr>
          <p:cNvSpPr>
            <a:spLocks xmlns:a="http://schemas.openxmlformats.org/drawingml/2006/main" noGrp="1"/>
          </p:cNvSpPr>
          <p:nvPr/>
        </p:nvSpPr>
        <p:spPr>
          <a:xfrm xmlns:a="http://schemas.openxmlformats.org/drawingml/2006/main">
            <a:off x="590550" y="4324350"/>
            <a:ext cx="38100" cy="838200"/>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E1C0022-1DFC-4B5F-8560-4FE775F836F1}"/>
              </a:ext>
            </a:extLst>
          </p:cNvPr>
          <p:cNvSpPr>
            <a:spLocks xmlns:a="http://schemas.openxmlformats.org/drawingml/2006/main" noGrp="1"/>
          </p:cNvSpPr>
          <p:nvPr/>
        </p:nvSpPr>
        <p:spPr>
          <a:xfrm xmlns:a="http://schemas.openxmlformats.org/drawingml/2006/main">
            <a:off x="781050" y="4362450"/>
            <a:ext cx="4838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3F7FA"/>
                </a:solidFill>
                <a:latin typeface="Arial"/>
                <a:ea typeface="Arial"/>
                <a:cs typeface="Arial"/>
              </a:defRPr>
            </a:defPPr>
          </a:lstStyle>
          <a:p xmlns:a="http://schemas.openxmlformats.org/drawingml/2006/main">
            <a:pPr algn="l">
              <a:defRPr sz="1425" b="1" i="0">
                <a:solidFill>
                  <a:srgbClr val="F3F7FA"/>
                </a:solidFill>
                <a:latin typeface="Arial"/>
                <a:ea typeface="Arial"/>
                <a:cs typeface="Arial"/>
              </a:defRPr>
            </a:pPr>
            <a:r>
              <a:rPr sz="1425" b="1" i="0">
                <a:solidFill>
                  <a:srgbClr val="F3F7FA"/>
                </a:solidFill>
                <a:latin typeface="Arial"/>
                <a:ea typeface="Arial"/>
                <a:cs typeface="Arial"/>
              </a:rPr>
              <a:t>Connecting battery measurements with actionable software insights for more visible and manageable battery operation.</a:t>
            </a:r>
          </a:p>
        </p:txBody>
      </p:sp>
      <p:pic>
        <p:nvPicPr>
          <p:cNvPr id="11" name="">
            <a:extLst xmlns:a="http://schemas.openxmlformats.org/drawingml/2006/main">
              <a:ext uri="{FF2B5EF4-FFF2-40B4-BE49-F238E27FC236}">
                <a16:creationId xmlns:a16="http://schemas.microsoft.com/office/drawing/2014/main" id="{F3C28242-F68B-4D94-BD94-57AB8E847C16}"/>
              </a:ext>
            </a:extLst>
          </p:cNvPr>
          <p:cNvPicPr>
            <a:picLocks xmlns:a="http://schemas.openxmlformats.org/drawingml/2006/main" noChangeAspect="1"/>
          </p:cNvPicPr>
          <p:nvPr/>
        </p:nvPicPr>
        <p:blipFill>
          <a:blip xmlns:r="http://schemas.openxmlformats.org/officeDocument/2006/relationships" xmlns:a="http://schemas.openxmlformats.org/drawingml/2006/main" r:embed="R5013d045ff0847ee"/>
          <a:stretch xmlns:a="http://schemas.openxmlformats.org/drawingml/2006/main"/>
        </p:blipFill>
        <p:spPr>
          <a:xfrm xmlns:a="http://schemas.openxmlformats.org/drawingml/2006/main">
            <a:off x="6172200" y="838200"/>
            <a:ext cx="5467350" cy="3790950"/>
          </a:xfrm>
          <a:prstGeom xmlns:a="http://schemas.openxmlformats.org/drawingml/2006/main" prst="roundRect">
            <a:avLst>
              <a:gd name="adj" fmla="val 4523"/>
            </a:avLst>
          </a:prstGeom>
        </p:spPr>
      </p:pic>
      <p:sp>
        <p:nvSpPr>
          <p:cNvPr id="12" name="">
            <a:extLst xmlns:a="http://schemas.openxmlformats.org/drawingml/2006/main">
              <a:ext uri="{FF2B5EF4-FFF2-40B4-BE49-F238E27FC236}">
                <a16:creationId xmlns:a16="http://schemas.microsoft.com/office/drawing/2014/main" id="{08AB0B20-7501-4DD3-8DC9-9F097CA1724F}"/>
              </a:ext>
            </a:extLst>
          </p:cNvPr>
          <p:cNvSpPr>
            <a:spLocks xmlns:a="http://schemas.openxmlformats.org/drawingml/2006/main" noGrp="1"/>
          </p:cNvSpPr>
          <p:nvPr/>
        </p:nvSpPr>
        <p:spPr>
          <a:xfrm xmlns:a="http://schemas.openxmlformats.org/drawingml/2006/main">
            <a:off x="7362825" y="4714875"/>
            <a:ext cx="3143250" cy="257175"/>
          </a:xfrm>
          <a:prstGeom xmlns:a="http://schemas.openxmlformats.org/drawingml/2006/main" prst="roundRect">
            <a:avLst>
              <a:gd name="adj" fmla="val 48148"/>
            </a:avLst>
          </a:prstGeom>
          <a:solidFill xmlns:a="http://schemas.openxmlformats.org/drawingml/2006/main">
            <a:srgbClr val="10202D"/>
          </a:solidFill>
          <a:ln xmlns:a="http://schemas.openxmlformats.org/drawingml/2006/main" w="11430">
            <a:solidFill>
              <a:srgbClr val="A8BAC6"/>
            </a:solidFill>
            <a:prstDash val="solid"/>
          </a:ln>
        </p:spPr>
      </p:sp>
      <p:sp>
        <p:nvSpPr>
          <p:cNvPr id="13" name="">
            <a:extLst xmlns:a="http://schemas.openxmlformats.org/drawingml/2006/main">
              <a:ext uri="{FF2B5EF4-FFF2-40B4-BE49-F238E27FC236}">
                <a16:creationId xmlns:a16="http://schemas.microsoft.com/office/drawing/2014/main" id="{E24344BE-7B58-4012-8A14-8BD1D2B483C8}"/>
              </a:ext>
            </a:extLst>
          </p:cNvPr>
          <p:cNvSpPr>
            <a:spLocks xmlns:a="http://schemas.openxmlformats.org/drawingml/2006/main" noGrp="1"/>
          </p:cNvSpPr>
          <p:nvPr/>
        </p:nvSpPr>
        <p:spPr>
          <a:xfrm xmlns:a="http://schemas.openxmlformats.org/drawingml/2006/main">
            <a:off x="7439025" y="4772025"/>
            <a:ext cx="2990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A8BAC6"/>
                </a:solidFill>
                <a:latin typeface="Arial"/>
                <a:ea typeface="Arial"/>
                <a:cs typeface="Arial"/>
              </a:defRPr>
            </a:defPPr>
          </a:lstStyle>
          <a:p xmlns:a="http://schemas.openxmlformats.org/drawingml/2006/main">
            <a:pPr algn="ctr">
              <a:defRPr sz="900" b="1" i="0">
                <a:solidFill>
                  <a:srgbClr val="A8BAC6"/>
                </a:solidFill>
                <a:latin typeface="Arial"/>
                <a:ea typeface="Arial"/>
                <a:cs typeface="Arial"/>
              </a:defRPr>
            </a:pPr>
            <a:r>
              <a:rPr sz="900" b="1" i="0">
                <a:solidFill>
                  <a:srgbClr val="A8BAC6"/>
                </a:solidFill>
                <a:latin typeface="Arial"/>
                <a:ea typeface="Arial"/>
                <a:cs typeface="Arial"/>
              </a:rPr>
              <a:t>CONCEPT ILLUSTRATION / NOT A BUILT PROTOTYPE</a:t>
            </a:r>
          </a:p>
        </p:txBody>
      </p:sp>
      <p:sp>
        <p:nvSpPr>
          <p:cNvPr id="14" name="">
            <a:extLst xmlns:a="http://schemas.openxmlformats.org/drawingml/2006/main">
              <a:ext uri="{FF2B5EF4-FFF2-40B4-BE49-F238E27FC236}">
                <a16:creationId xmlns:a16="http://schemas.microsoft.com/office/drawing/2014/main" id="{3A469656-DD83-48C9-AA40-83C5EF9AC9B5}"/>
              </a:ext>
            </a:extLst>
          </p:cNvPr>
          <p:cNvSpPr>
            <a:spLocks xmlns:a="http://schemas.openxmlformats.org/drawingml/2006/main" noGrp="1"/>
          </p:cNvSpPr>
          <p:nvPr/>
        </p:nvSpPr>
        <p:spPr>
          <a:xfrm xmlns:a="http://schemas.openxmlformats.org/drawingml/2006/main">
            <a:off x="6172200" y="5143500"/>
            <a:ext cx="2647950" cy="257175"/>
          </a:xfrm>
          <a:prstGeom xmlns:a="http://schemas.openxmlformats.org/drawingml/2006/main" prst="roundRect">
            <a:avLst>
              <a:gd name="adj" fmla="val 48148"/>
            </a:avLst>
          </a:prstGeom>
          <a:solidFill xmlns:a="http://schemas.openxmlformats.org/drawingml/2006/main">
            <a:srgbClr val="10291F"/>
          </a:solidFill>
          <a:ln xmlns:a="http://schemas.openxmlformats.org/drawingml/2006/main" w="11430">
            <a:solidFill>
              <a:srgbClr val="4DD4AA"/>
            </a:solidFill>
            <a:prstDash val="solid"/>
          </a:ln>
        </p:spPr>
      </p:sp>
      <p:sp>
        <p:nvSpPr>
          <p:cNvPr id="15" name="">
            <a:extLst xmlns:a="http://schemas.openxmlformats.org/drawingml/2006/main">
              <a:ext uri="{FF2B5EF4-FFF2-40B4-BE49-F238E27FC236}">
                <a16:creationId xmlns:a16="http://schemas.microsoft.com/office/drawing/2014/main" id="{E5AB5719-408C-46F9-BFEC-4678FDD7EF64}"/>
              </a:ext>
            </a:extLst>
          </p:cNvPr>
          <p:cNvSpPr>
            <a:spLocks xmlns:a="http://schemas.openxmlformats.org/drawingml/2006/main" noGrp="1"/>
          </p:cNvSpPr>
          <p:nvPr/>
        </p:nvSpPr>
        <p:spPr>
          <a:xfrm xmlns:a="http://schemas.openxmlformats.org/drawingml/2006/main">
            <a:off x="6248400" y="5200650"/>
            <a:ext cx="24955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4DD4AA"/>
                </a:solidFill>
                <a:latin typeface="Arial"/>
                <a:ea typeface="Arial"/>
                <a:cs typeface="Arial"/>
              </a:defRPr>
            </a:defPPr>
          </a:lstStyle>
          <a:p xmlns:a="http://schemas.openxmlformats.org/drawingml/2006/main">
            <a:pPr algn="ctr">
              <a:defRPr sz="900" b="1" i="0">
                <a:solidFill>
                  <a:srgbClr val="4DD4AA"/>
                </a:solidFill>
                <a:latin typeface="Arial"/>
                <a:ea typeface="Arial"/>
                <a:cs typeface="Arial"/>
              </a:defRPr>
            </a:pPr>
            <a:r>
              <a:rPr sz="900" b="1" i="0">
                <a:solidFill>
                  <a:srgbClr val="4DD4AA"/>
                </a:solidFill>
                <a:latin typeface="Arial"/>
                <a:ea typeface="Arial"/>
                <a:cs typeface="Arial"/>
              </a:rPr>
              <a:t>SOFTWARE FOUNDATION / IMPLEMENTED</a:t>
            </a:r>
          </a:p>
        </p:txBody>
      </p:sp>
      <p:sp>
        <p:nvSpPr>
          <p:cNvPr id="16" name="">
            <a:extLst xmlns:a="http://schemas.openxmlformats.org/drawingml/2006/main">
              <a:ext uri="{FF2B5EF4-FFF2-40B4-BE49-F238E27FC236}">
                <a16:creationId xmlns:a16="http://schemas.microsoft.com/office/drawing/2014/main" id="{229161C5-04C2-4540-8794-46685ECEBDE8}"/>
              </a:ext>
            </a:extLst>
          </p:cNvPr>
          <p:cNvSpPr>
            <a:spLocks xmlns:a="http://schemas.openxmlformats.org/drawingml/2006/main" noGrp="1"/>
          </p:cNvSpPr>
          <p:nvPr/>
        </p:nvSpPr>
        <p:spPr>
          <a:xfrm xmlns:a="http://schemas.openxmlformats.org/drawingml/2006/main">
            <a:off x="8953500" y="5143500"/>
            <a:ext cx="2686050" cy="257175"/>
          </a:xfrm>
          <a:prstGeom xmlns:a="http://schemas.openxmlformats.org/drawingml/2006/main" prst="roundRect">
            <a:avLst>
              <a:gd name="adj" fmla="val 48148"/>
            </a:avLst>
          </a:prstGeom>
          <a:solidFill xmlns:a="http://schemas.openxmlformats.org/drawingml/2006/main">
            <a:srgbClr val="30251A"/>
          </a:solidFill>
          <a:ln xmlns:a="http://schemas.openxmlformats.org/drawingml/2006/main" w="11430">
            <a:solidFill>
              <a:srgbClr val="F2B76B"/>
            </a:solidFill>
            <a:prstDash val="solid"/>
          </a:ln>
        </p:spPr>
      </p:sp>
      <p:sp>
        <p:nvSpPr>
          <p:cNvPr id="17" name="">
            <a:extLst xmlns:a="http://schemas.openxmlformats.org/drawingml/2006/main">
              <a:ext uri="{FF2B5EF4-FFF2-40B4-BE49-F238E27FC236}">
                <a16:creationId xmlns:a16="http://schemas.microsoft.com/office/drawing/2014/main" id="{A7B00DE6-45BB-4C6F-8775-B4D9DC0CA682}"/>
              </a:ext>
            </a:extLst>
          </p:cNvPr>
          <p:cNvSpPr>
            <a:spLocks xmlns:a="http://schemas.openxmlformats.org/drawingml/2006/main" noGrp="1"/>
          </p:cNvSpPr>
          <p:nvPr/>
        </p:nvSpPr>
        <p:spPr>
          <a:xfrm xmlns:a="http://schemas.openxmlformats.org/drawingml/2006/main">
            <a:off x="9029700" y="5200650"/>
            <a:ext cx="2533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2B76B"/>
                </a:solidFill>
                <a:latin typeface="Arial"/>
                <a:ea typeface="Arial"/>
                <a:cs typeface="Arial"/>
              </a:defRPr>
            </a:defPPr>
          </a:lstStyle>
          <a:p xmlns:a="http://schemas.openxmlformats.org/drawingml/2006/main">
            <a:pPr algn="ctr">
              <a:defRPr sz="900" b="1" i="0">
                <a:solidFill>
                  <a:srgbClr val="F2B76B"/>
                </a:solidFill>
                <a:latin typeface="Arial"/>
                <a:ea typeface="Arial"/>
                <a:cs typeface="Arial"/>
              </a:defRPr>
            </a:pPr>
            <a:r>
              <a:rPr sz="900" b="1" i="0">
                <a:solidFill>
                  <a:srgbClr val="F2B76B"/>
                </a:solidFill>
                <a:latin typeface="Arial"/>
                <a:ea typeface="Arial"/>
                <a:cs typeface="Arial"/>
              </a:rPr>
              <a:t>PHYSICAL INTEGRATION / PENDING</a:t>
            </a:r>
          </a:p>
        </p:txBody>
      </p:sp>
      <p:sp>
        <p:nvSpPr>
          <p:cNvPr id="18" name="">
            <a:extLst xmlns:a="http://schemas.openxmlformats.org/drawingml/2006/main">
              <a:ext uri="{FF2B5EF4-FFF2-40B4-BE49-F238E27FC236}">
                <a16:creationId xmlns:a16="http://schemas.microsoft.com/office/drawing/2014/main" id="{F8C41B15-4C2E-43D0-8B26-DB3D0749DAF4}"/>
              </a:ext>
            </a:extLst>
          </p:cNvPr>
          <p:cNvSpPr>
            <a:spLocks xmlns:a="http://schemas.openxmlformats.org/drawingml/2006/main" noGrp="1"/>
          </p:cNvSpPr>
          <p:nvPr/>
        </p:nvSpPr>
        <p:spPr>
          <a:xfrm xmlns:a="http://schemas.openxmlformats.org/drawingml/2006/main">
            <a:off x="6191250" y="55435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A8BAC6"/>
                </a:solidFill>
                <a:latin typeface="Arial"/>
                <a:ea typeface="Arial"/>
                <a:cs typeface="Arial"/>
              </a:defRPr>
            </a:defPPr>
          </a:lstStyle>
          <a:p xmlns:a="http://schemas.openxmlformats.org/drawingml/2006/main">
            <a:pPr algn="l">
              <a:defRPr sz="1200" b="0" i="0">
                <a:solidFill>
                  <a:srgbClr val="A8BAC6"/>
                </a:solidFill>
                <a:latin typeface="Arial"/>
                <a:ea typeface="Arial"/>
                <a:cs typeface="Arial"/>
              </a:defRPr>
            </a:pPr>
            <a:r>
              <a:rPr sz="1200" b="0" i="0">
                <a:solidFill>
                  <a:srgbClr val="A8BAC6"/>
                </a:solidFill>
                <a:latin typeface="Arial"/>
                <a:ea typeface="Arial"/>
                <a:cs typeface="Arial"/>
              </a:rPr>
              <a:t>Current dashboard values come from the backend development simulator. Physical sensor measurements are not connected.</a:t>
            </a:r>
          </a:p>
        </p:txBody>
      </p:sp>
      <p:sp>
        <p:nvSpPr>
          <p:cNvPr id="19" name="">
            <a:extLst xmlns:a="http://schemas.openxmlformats.org/drawingml/2006/main">
              <a:ext uri="{FF2B5EF4-FFF2-40B4-BE49-F238E27FC236}">
                <a16:creationId xmlns:a16="http://schemas.microsoft.com/office/drawing/2014/main" id="{A6FABD19-EC1E-48A0-BFD7-04B476864461}"/>
              </a:ext>
            </a:extLst>
          </p:cNvPr>
          <p:cNvSpPr>
            <a:spLocks xmlns:a="http://schemas.openxmlformats.org/drawingml/2006/main" noGrp="1"/>
          </p:cNvSpPr>
          <p:nvPr/>
        </p:nvSpPr>
        <p:spPr>
          <a:xfrm xmlns:a="http://schemas.openxmlformats.org/drawingml/2006/main">
            <a:off x="628650" y="5667375"/>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2B76B"/>
                </a:solidFill>
                <a:latin typeface="Arial"/>
                <a:ea typeface="Arial"/>
                <a:cs typeface="Arial"/>
              </a:defRPr>
            </a:defPPr>
          </a:lstStyle>
          <a:p xmlns:a="http://schemas.openxmlformats.org/drawingml/2006/main">
            <a:pPr algn="ctr">
              <a:defRPr sz="900" b="1" i="0">
                <a:solidFill>
                  <a:srgbClr val="F2B76B"/>
                </a:solidFill>
                <a:latin typeface="Arial"/>
                <a:ea typeface="Arial"/>
                <a:cs typeface="Arial"/>
              </a:defRPr>
            </a:pPr>
            <a:r>
              <a:rPr sz="900" b="1" i="0">
                <a:solidFill>
                  <a:srgbClr val="F2B76B"/>
                </a:solidFill>
                <a:latin typeface="Arial"/>
                <a:ea typeface="Arial"/>
                <a:cs typeface="Arial"/>
              </a:rPr>
              <a:t>MEASURE</a:t>
            </a:r>
          </a:p>
        </p:txBody>
      </p:sp>
      <p:sp>
        <p:nvSpPr>
          <p:cNvPr id="20" name="">
            <a:extLst xmlns:a="http://schemas.openxmlformats.org/drawingml/2006/main">
              <a:ext uri="{FF2B5EF4-FFF2-40B4-BE49-F238E27FC236}">
                <a16:creationId xmlns:a16="http://schemas.microsoft.com/office/drawing/2014/main" id="{6D5A98AC-FCD2-4F0E-93C1-1774711B8799}"/>
              </a:ext>
            </a:extLst>
          </p:cNvPr>
          <p:cNvSpPr>
            <a:spLocks xmlns:a="http://schemas.openxmlformats.org/drawingml/2006/main" noGrp="1"/>
          </p:cNvSpPr>
          <p:nvPr/>
        </p:nvSpPr>
        <p:spPr>
          <a:xfrm xmlns:a="http://schemas.openxmlformats.org/drawingml/2006/main">
            <a:off x="2343150" y="5667375"/>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4DD4AA"/>
                </a:solidFill>
                <a:latin typeface="Arial"/>
                <a:ea typeface="Arial"/>
                <a:cs typeface="Arial"/>
              </a:defRPr>
            </a:defPPr>
          </a:lstStyle>
          <a:p xmlns:a="http://schemas.openxmlformats.org/drawingml/2006/main">
            <a:pPr algn="ctr">
              <a:defRPr sz="900" b="1" i="0">
                <a:solidFill>
                  <a:srgbClr val="4DD4AA"/>
                </a:solidFill>
                <a:latin typeface="Arial"/>
                <a:ea typeface="Arial"/>
                <a:cs typeface="Arial"/>
              </a:defRPr>
            </a:pPr>
            <a:r>
              <a:rPr sz="900" b="1" i="0">
                <a:solidFill>
                  <a:srgbClr val="4DD4AA"/>
                </a:solidFill>
                <a:latin typeface="Arial"/>
                <a:ea typeface="Arial"/>
                <a:cs typeface="Arial"/>
              </a:rPr>
              <a:t>PROCESS</a:t>
            </a:r>
          </a:p>
        </p:txBody>
      </p:sp>
      <p:sp>
        <p:nvSpPr>
          <p:cNvPr id="21" name="">
            <a:extLst xmlns:a="http://schemas.openxmlformats.org/drawingml/2006/main">
              <a:ext uri="{FF2B5EF4-FFF2-40B4-BE49-F238E27FC236}">
                <a16:creationId xmlns:a16="http://schemas.microsoft.com/office/drawing/2014/main" id="{F2B3341E-BB03-42A2-B796-0A32E4478A0F}"/>
              </a:ext>
            </a:extLst>
          </p:cNvPr>
          <p:cNvSpPr>
            <a:spLocks xmlns:a="http://schemas.openxmlformats.org/drawingml/2006/main" noGrp="1"/>
          </p:cNvSpPr>
          <p:nvPr/>
        </p:nvSpPr>
        <p:spPr>
          <a:xfrm xmlns:a="http://schemas.openxmlformats.org/drawingml/2006/main">
            <a:off x="4057650" y="5667375"/>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4DD4AA"/>
                </a:solidFill>
                <a:latin typeface="Arial"/>
                <a:ea typeface="Arial"/>
                <a:cs typeface="Arial"/>
              </a:defRPr>
            </a:defPPr>
          </a:lstStyle>
          <a:p xmlns:a="http://schemas.openxmlformats.org/drawingml/2006/main">
            <a:pPr algn="ctr">
              <a:defRPr sz="900" b="1" i="0">
                <a:solidFill>
                  <a:srgbClr val="4DD4AA"/>
                </a:solidFill>
                <a:latin typeface="Arial"/>
                <a:ea typeface="Arial"/>
                <a:cs typeface="Arial"/>
              </a:defRPr>
            </a:pPr>
            <a:r>
              <a:rPr sz="900" b="1" i="0">
                <a:solidFill>
                  <a:srgbClr val="4DD4AA"/>
                </a:solidFill>
                <a:latin typeface="Arial"/>
                <a:ea typeface="Arial"/>
                <a:cs typeface="Arial"/>
              </a:rPr>
              <a:t>VIEW</a:t>
            </a:r>
          </a:p>
        </p:txBody>
      </p:sp>
      <p:sp>
        <p:nvSpPr>
          <p:cNvPr id="22" name="">
            <a:extLst xmlns:a="http://schemas.openxmlformats.org/drawingml/2006/main">
              <a:ext uri="{FF2B5EF4-FFF2-40B4-BE49-F238E27FC236}">
                <a16:creationId xmlns:a16="http://schemas.microsoft.com/office/drawing/2014/main" id="{980D4E8E-94D2-405A-B4D4-B0C90150904C}"/>
              </a:ext>
            </a:extLst>
          </p:cNvPr>
          <p:cNvSpPr>
            <a:spLocks xmlns:a="http://schemas.openxmlformats.org/drawingml/2006/main" noGrp="1"/>
          </p:cNvSpPr>
          <p:nvPr/>
        </p:nvSpPr>
        <p:spPr>
          <a:xfrm xmlns:a="http://schemas.openxmlformats.org/drawingml/2006/main">
            <a:off x="628650" y="5886450"/>
            <a:ext cx="1390650" cy="409575"/>
          </a:xfrm>
          <a:prstGeom xmlns:a="http://schemas.openxmlformats.org/drawingml/2006/main" prst="roundRect">
            <a:avLst>
              <a:gd name="adj" fmla="val 27907"/>
            </a:avLst>
          </a:prstGeom>
          <a:solidFill xmlns:a="http://schemas.openxmlformats.org/drawingml/2006/main">
            <a:srgbClr val="172431"/>
          </a:solidFill>
          <a:ln xmlns:a="http://schemas.openxmlformats.org/drawingml/2006/main" w="11430">
            <a:solidFill>
              <a:srgbClr val="806540"/>
            </a:solidFill>
            <a:prstDash val="solid"/>
          </a:ln>
        </p:spPr>
      </p:sp>
      <p:sp>
        <p:nvSpPr>
          <p:cNvPr id="23" name="">
            <a:extLst xmlns:a="http://schemas.openxmlformats.org/drawingml/2006/main">
              <a:ext uri="{FF2B5EF4-FFF2-40B4-BE49-F238E27FC236}">
                <a16:creationId xmlns:a16="http://schemas.microsoft.com/office/drawing/2014/main" id="{92C03ECC-494E-4F85-8A1D-BAAC385500AC}"/>
              </a:ext>
            </a:extLst>
          </p:cNvPr>
          <p:cNvSpPr>
            <a:spLocks xmlns:a="http://schemas.openxmlformats.org/drawingml/2006/main" noGrp="1"/>
          </p:cNvSpPr>
          <p:nvPr/>
        </p:nvSpPr>
        <p:spPr>
          <a:xfrm xmlns:a="http://schemas.openxmlformats.org/drawingml/2006/main">
            <a:off x="2343150" y="5886450"/>
            <a:ext cx="1390650" cy="409575"/>
          </a:xfrm>
          <a:prstGeom xmlns:a="http://schemas.openxmlformats.org/drawingml/2006/main" prst="roundRect">
            <a:avLst>
              <a:gd name="adj" fmla="val 27907"/>
            </a:avLst>
          </a:prstGeom>
          <a:solidFill xmlns:a="http://schemas.openxmlformats.org/drawingml/2006/main">
            <a:srgbClr val="122B2B"/>
          </a:solidFill>
          <a:ln xmlns:a="http://schemas.openxmlformats.org/drawingml/2006/main" w="11430">
            <a:solidFill>
              <a:srgbClr val="367B6A"/>
            </a:solidFill>
            <a:prstDash val="solid"/>
          </a:ln>
        </p:spPr>
      </p:sp>
      <p:sp>
        <p:nvSpPr>
          <p:cNvPr id="24" name="">
            <a:extLst xmlns:a="http://schemas.openxmlformats.org/drawingml/2006/main">
              <a:ext uri="{FF2B5EF4-FFF2-40B4-BE49-F238E27FC236}">
                <a16:creationId xmlns:a16="http://schemas.microsoft.com/office/drawing/2014/main" id="{06694F78-A7E1-48DB-AE48-4BB69585E0A0}"/>
              </a:ext>
            </a:extLst>
          </p:cNvPr>
          <p:cNvSpPr>
            <a:spLocks xmlns:a="http://schemas.openxmlformats.org/drawingml/2006/main" noGrp="1"/>
          </p:cNvSpPr>
          <p:nvPr/>
        </p:nvSpPr>
        <p:spPr>
          <a:xfrm xmlns:a="http://schemas.openxmlformats.org/drawingml/2006/main">
            <a:off x="4057650" y="5886450"/>
            <a:ext cx="1390650" cy="409575"/>
          </a:xfrm>
          <a:prstGeom xmlns:a="http://schemas.openxmlformats.org/drawingml/2006/main" prst="roundRect">
            <a:avLst>
              <a:gd name="adj" fmla="val 27907"/>
            </a:avLst>
          </a:prstGeom>
          <a:solidFill xmlns:a="http://schemas.openxmlformats.org/drawingml/2006/main">
            <a:srgbClr val="122B2B"/>
          </a:solidFill>
          <a:ln xmlns:a="http://schemas.openxmlformats.org/drawingml/2006/main" w="11430">
            <a:solidFill>
              <a:srgbClr val="367B6A"/>
            </a:solidFill>
            <a:prstDash val="solid"/>
          </a:ln>
        </p:spPr>
      </p:sp>
      <p:sp>
        <p:nvSpPr>
          <p:cNvPr id="25" name="">
            <a:extLst xmlns:a="http://schemas.openxmlformats.org/drawingml/2006/main">
              <a:ext uri="{FF2B5EF4-FFF2-40B4-BE49-F238E27FC236}">
                <a16:creationId xmlns:a16="http://schemas.microsoft.com/office/drawing/2014/main" id="{F023DF13-913F-4DCF-A930-C181467A0543}"/>
              </a:ext>
            </a:extLst>
          </p:cNvPr>
          <p:cNvSpPr>
            <a:spLocks xmlns:a="http://schemas.openxmlformats.org/drawingml/2006/main" noGrp="1"/>
          </p:cNvSpPr>
          <p:nvPr/>
        </p:nvSpPr>
        <p:spPr>
          <a:xfrm xmlns:a="http://schemas.openxmlformats.org/drawingml/2006/main">
            <a:off x="714375" y="6019800"/>
            <a:ext cx="1219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i="0">
                <a:solidFill>
                  <a:srgbClr val="F3F7FA"/>
                </a:solidFill>
                <a:latin typeface="Arial"/>
                <a:ea typeface="Arial"/>
                <a:cs typeface="Arial"/>
              </a:defRPr>
            </a:defPPr>
          </a:lstStyle>
          <a:p xmlns:a="http://schemas.openxmlformats.org/drawingml/2006/main">
            <a:pPr algn="ctr">
              <a:defRPr sz="975" b="0" i="0">
                <a:solidFill>
                  <a:srgbClr val="F3F7FA"/>
                </a:solidFill>
                <a:latin typeface="Arial"/>
                <a:ea typeface="Arial"/>
                <a:cs typeface="Arial"/>
              </a:defRPr>
            </a:pPr>
            <a:r>
              <a:rPr sz="975" b="0" i="0">
                <a:solidFill>
                  <a:srgbClr val="F3F7FA"/>
                </a:solidFill>
                <a:latin typeface="Arial"/>
                <a:ea typeface="Arial"/>
                <a:cs typeface="Arial"/>
              </a:rPr>
              <a:t>V / I / 4 temperatures</a:t>
            </a:r>
          </a:p>
        </p:txBody>
      </p:sp>
      <p:sp>
        <p:nvSpPr>
          <p:cNvPr id="26" name="">
            <a:extLst xmlns:a="http://schemas.openxmlformats.org/drawingml/2006/main">
              <a:ext uri="{FF2B5EF4-FFF2-40B4-BE49-F238E27FC236}">
                <a16:creationId xmlns:a16="http://schemas.microsoft.com/office/drawing/2014/main" id="{91D0B174-CA0E-499B-BE61-B5AD387912BC}"/>
              </a:ext>
            </a:extLst>
          </p:cNvPr>
          <p:cNvSpPr>
            <a:spLocks xmlns:a="http://schemas.openxmlformats.org/drawingml/2006/main" noGrp="1"/>
          </p:cNvSpPr>
          <p:nvPr/>
        </p:nvSpPr>
        <p:spPr>
          <a:xfrm xmlns:a="http://schemas.openxmlformats.org/drawingml/2006/main">
            <a:off x="2428875" y="6019800"/>
            <a:ext cx="1219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i="0">
                <a:solidFill>
                  <a:srgbClr val="F3F7FA"/>
                </a:solidFill>
                <a:latin typeface="Arial"/>
                <a:ea typeface="Arial"/>
                <a:cs typeface="Arial"/>
              </a:defRPr>
            </a:defPPr>
          </a:lstStyle>
          <a:p xmlns:a="http://schemas.openxmlformats.org/drawingml/2006/main">
            <a:pPr algn="ctr">
              <a:defRPr sz="975" b="0" i="0">
                <a:solidFill>
                  <a:srgbClr val="F3F7FA"/>
                </a:solidFill>
                <a:latin typeface="Arial"/>
                <a:ea typeface="Arial"/>
                <a:cs typeface="Arial"/>
              </a:defRPr>
            </a:pPr>
            <a:r>
              <a:rPr sz="975" b="0" i="0">
                <a:solidFill>
                  <a:srgbClr val="F3F7FA"/>
                </a:solidFill>
                <a:latin typeface="Arial"/>
                <a:ea typeface="Arial"/>
                <a:cs typeface="Arial"/>
              </a:rPr>
              <a:t>FastAPI + SQLite</a:t>
            </a:r>
          </a:p>
        </p:txBody>
      </p:sp>
      <p:sp>
        <p:nvSpPr>
          <p:cNvPr id="27" name="">
            <a:extLst xmlns:a="http://schemas.openxmlformats.org/drawingml/2006/main">
              <a:ext uri="{FF2B5EF4-FFF2-40B4-BE49-F238E27FC236}">
                <a16:creationId xmlns:a16="http://schemas.microsoft.com/office/drawing/2014/main" id="{20AEE399-B67A-4E12-A06F-37B9E9E9CA5B}"/>
              </a:ext>
            </a:extLst>
          </p:cNvPr>
          <p:cNvSpPr>
            <a:spLocks xmlns:a="http://schemas.openxmlformats.org/drawingml/2006/main" noGrp="1"/>
          </p:cNvSpPr>
          <p:nvPr/>
        </p:nvSpPr>
        <p:spPr>
          <a:xfrm xmlns:a="http://schemas.openxmlformats.org/drawingml/2006/main">
            <a:off x="4143375" y="6019800"/>
            <a:ext cx="1219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i="0">
                <a:solidFill>
                  <a:srgbClr val="F3F7FA"/>
                </a:solidFill>
                <a:latin typeface="Arial"/>
                <a:ea typeface="Arial"/>
                <a:cs typeface="Arial"/>
              </a:defRPr>
            </a:defPPr>
          </a:lstStyle>
          <a:p xmlns:a="http://schemas.openxmlformats.org/drawingml/2006/main">
            <a:pPr algn="ctr">
              <a:defRPr sz="975" b="0" i="0">
                <a:solidFill>
                  <a:srgbClr val="F3F7FA"/>
                </a:solidFill>
                <a:latin typeface="Arial"/>
                <a:ea typeface="Arial"/>
                <a:cs typeface="Arial"/>
              </a:defRPr>
            </a:pPr>
            <a:r>
              <a:rPr sz="975" b="0" i="0">
                <a:solidFill>
                  <a:srgbClr val="F3F7FA"/>
                </a:solidFill>
                <a:latin typeface="Arial"/>
                <a:ea typeface="Arial"/>
                <a:cs typeface="Arial"/>
              </a:rPr>
              <a:t>Vanilla JS dashboard</a:t>
            </a:r>
          </a:p>
        </p:txBody>
      </p:sp>
      <p:sp>
        <p:nvSpPr>
          <p:cNvPr id="28" name="">
            <a:extLst xmlns:a="http://schemas.openxmlformats.org/drawingml/2006/main">
              <a:ext uri="{FF2B5EF4-FFF2-40B4-BE49-F238E27FC236}">
                <a16:creationId xmlns:a16="http://schemas.microsoft.com/office/drawing/2014/main" id="{C88D0381-60BF-44F7-927F-5069B13C3F29}"/>
              </a:ext>
            </a:extLst>
          </p:cNvPr>
          <p:cNvSpPr>
            <a:spLocks xmlns:a="http://schemas.openxmlformats.org/drawingml/2006/main" noGrp="1"/>
          </p:cNvSpPr>
          <p:nvPr/>
        </p:nvSpPr>
        <p:spPr>
          <a:xfrm xmlns:a="http://schemas.openxmlformats.org/drawingml/2006/main">
            <a:off x="2085975" y="6038850"/>
            <a:ext cx="190500"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7C16B01-06FA-443F-BB0F-EFAB24550769}"/>
              </a:ext>
            </a:extLst>
          </p:cNvPr>
          <p:cNvSpPr>
            <a:spLocks xmlns:a="http://schemas.openxmlformats.org/drawingml/2006/main" noGrp="1"/>
          </p:cNvSpPr>
          <p:nvPr/>
        </p:nvSpPr>
        <p:spPr>
          <a:xfrm xmlns:a="http://schemas.openxmlformats.org/drawingml/2006/main">
            <a:off x="3800475" y="6038850"/>
            <a:ext cx="190500"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D4B0DB5-02CF-443F-9CFD-45208DD7CC40}"/>
              </a:ext>
            </a:extLst>
          </p:cNvPr>
          <p:cNvSpPr>
            <a:spLocks xmlns:a="http://schemas.openxmlformats.org/drawingml/2006/main" noGrp="1"/>
          </p:cNvSpPr>
          <p:nvPr/>
        </p:nvSpPr>
        <p:spPr>
          <a:xfrm xmlns:a="http://schemas.openxmlformats.org/drawingml/2006/main">
            <a:off x="6191250" y="6191250"/>
            <a:ext cx="528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6E8595"/>
                </a:solidFill>
                <a:latin typeface="Arial"/>
                <a:ea typeface="Arial"/>
                <a:cs typeface="Arial"/>
              </a:defRPr>
            </a:defPPr>
          </a:lstStyle>
          <a:p xmlns:a="http://schemas.openxmlformats.org/drawingml/2006/main">
            <a:pPr algn="l">
              <a:defRPr sz="900" b="0" i="0">
                <a:solidFill>
                  <a:srgbClr val="6E8595"/>
                </a:solidFill>
                <a:latin typeface="Arial"/>
                <a:ea typeface="Arial"/>
                <a:cs typeface="Arial"/>
              </a:defRPr>
            </a:pPr>
            <a:r>
              <a:rPr sz="900" b="0" i="0">
                <a:solidFill>
                  <a:srgbClr val="6E8595"/>
                </a:solidFill>
                <a:latin typeface="Arial"/>
                <a:ea typeface="Arial"/>
                <a:cs typeface="Arial"/>
              </a:rPr>
              <a:t>No application screenshot was present in the repository. Concept art is used instead.</a:t>
            </a:r>
          </a:p>
        </p:txBody>
      </p:sp>
    </p:spTree>
    <p:extLst>
      <p:ext uri="{BB962C8B-B14F-4D97-AF65-F5344CB8AC3E}">
        <p14:creationId xmlns:p14="http://schemas.microsoft.com/office/powerpoint/2010/main" val="908117527"/>
      </p:ext>
    </p:extLst>
  </p:cSld>
</p:sld>
</file>

<file path=ppt/slides/slide2.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79B95AD0-C50A-4BA1-B707-425DD9720CCC}"/>
              </a:ext>
            </a:extLst>
          </p:cNvPr>
          <p:cNvSpPr>
            <a:spLocks xmlns:a="http://schemas.openxmlformats.org/drawingml/2006/main" noGrp="1"/>
          </p:cNvSpPr>
          <p:nvPr/>
        </p:nvSpPr>
        <p:spPr>
          <a:xfrm xmlns:a="http://schemas.openxmlformats.org/drawingml/2006/main">
            <a:off x="571500" y="2571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TECHNICAL EXPLANATION</a:t>
            </a:r>
          </a:p>
        </p:txBody>
      </p:sp>
      <p:sp>
        <p:nvSpPr>
          <p:cNvPr id="2" name="">
            <a:extLst xmlns:a="http://schemas.openxmlformats.org/drawingml/2006/main">
              <a:ext uri="{FF2B5EF4-FFF2-40B4-BE49-F238E27FC236}">
                <a16:creationId xmlns:a16="http://schemas.microsoft.com/office/drawing/2014/main" id="{786580DA-BCF8-4020-96F5-03875A71A053}"/>
              </a:ext>
            </a:extLst>
          </p:cNvPr>
          <p:cNvSpPr>
            <a:spLocks xmlns:a="http://schemas.openxmlformats.org/drawingml/2006/main" noGrp="1"/>
          </p:cNvSpPr>
          <p:nvPr/>
        </p:nvSpPr>
        <p:spPr>
          <a:xfrm xmlns:a="http://schemas.openxmlformats.org/drawingml/2006/main">
            <a:off x="571500" y="523875"/>
            <a:ext cx="457200" cy="28575"/>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0DB551A-0564-4E6E-860B-E36354FF0040}"/>
              </a:ext>
            </a:extLst>
          </p:cNvPr>
          <p:cNvSpPr>
            <a:spLocks xmlns:a="http://schemas.openxmlformats.org/drawingml/2006/main" noGrp="1"/>
          </p:cNvSpPr>
          <p:nvPr/>
        </p:nvSpPr>
        <p:spPr>
          <a:xfrm xmlns:a="http://schemas.openxmlformats.org/drawingml/2006/main">
            <a:off x="10829925" y="266700"/>
            <a:ext cx="790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A8BAC6"/>
                </a:solidFill>
                <a:latin typeface="Arial"/>
                <a:ea typeface="Arial"/>
                <a:cs typeface="Arial"/>
              </a:defRPr>
            </a:defPPr>
          </a:lstStyle>
          <a:p xmlns:a="http://schemas.openxmlformats.org/drawingml/2006/main">
            <a:pPr algn="r">
              <a:defRPr sz="975" b="1" i="0">
                <a:solidFill>
                  <a:srgbClr val="A8BAC6"/>
                </a:solidFill>
                <a:latin typeface="Arial"/>
                <a:ea typeface="Arial"/>
                <a:cs typeface="Arial"/>
              </a:defRPr>
            </a:pPr>
            <a:r>
              <a:rPr sz="975" b="1" i="0">
                <a:solidFill>
                  <a:srgbClr val="A8BAC6"/>
                </a:solidFill>
                <a:latin typeface="Arial"/>
                <a:ea typeface="Arial"/>
                <a:cs typeface="Arial"/>
              </a:rPr>
              <a:t>02 / 04</a:t>
            </a:r>
          </a:p>
        </p:txBody>
      </p:sp>
      <p:sp>
        <p:nvSpPr>
          <p:cNvPr id="4" name="">
            <a:extLst xmlns:a="http://schemas.openxmlformats.org/drawingml/2006/main">
              <a:ext uri="{FF2B5EF4-FFF2-40B4-BE49-F238E27FC236}">
                <a16:creationId xmlns:a16="http://schemas.microsoft.com/office/drawing/2014/main" id="{D9DC4310-33B4-409D-AA05-0C57EBFB17E4}"/>
              </a:ext>
            </a:extLst>
          </p:cNvPr>
          <p:cNvSpPr>
            <a:spLocks xmlns:a="http://schemas.openxmlformats.org/drawingml/2006/main" noGrp="1"/>
          </p:cNvSpPr>
          <p:nvPr/>
        </p:nvSpPr>
        <p:spPr>
          <a:xfrm xmlns:a="http://schemas.openxmlformats.org/drawingml/2006/main">
            <a:off x="571500" y="647700"/>
            <a:ext cx="10620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i="0">
                <a:solidFill>
                  <a:srgbClr val="F3F7FA"/>
                </a:solidFill>
                <a:latin typeface="Arial"/>
                <a:ea typeface="Arial"/>
                <a:cs typeface="Arial"/>
              </a:defRPr>
            </a:defPPr>
          </a:lstStyle>
          <a:p xmlns:a="http://schemas.openxmlformats.org/drawingml/2006/main">
            <a:pPr algn="l">
              <a:defRPr sz="2625" b="1" i="0">
                <a:solidFill>
                  <a:srgbClr val="F3F7FA"/>
                </a:solidFill>
                <a:latin typeface="Arial"/>
                <a:ea typeface="Arial"/>
                <a:cs typeface="Arial"/>
              </a:defRPr>
            </a:pPr>
            <a:r>
              <a:rPr sz="2625" b="1" i="0">
                <a:solidFill>
                  <a:srgbClr val="F3F7FA"/>
                </a:solidFill>
                <a:latin typeface="Arial"/>
                <a:ea typeface="Arial"/>
                <a:cs typeface="Arial"/>
              </a:rPr>
              <a:t>SYSTEM ARCHITECTURE &amp; TECHNICAL METHODOLOGY</a:t>
            </a:r>
          </a:p>
        </p:txBody>
      </p:sp>
      <p:sp>
        <p:nvSpPr>
          <p:cNvPr id="5" name="">
            <a:extLst xmlns:a="http://schemas.openxmlformats.org/drawingml/2006/main">
              <a:ext uri="{FF2B5EF4-FFF2-40B4-BE49-F238E27FC236}">
                <a16:creationId xmlns:a16="http://schemas.microsoft.com/office/drawing/2014/main" id="{F6A24552-EFA7-4A6B-8FBC-C8EA11777264}"/>
              </a:ext>
            </a:extLst>
          </p:cNvPr>
          <p:cNvSpPr>
            <a:spLocks xmlns:a="http://schemas.openxmlformats.org/drawingml/2006/main" noGrp="1"/>
          </p:cNvSpPr>
          <p:nvPr/>
        </p:nvSpPr>
        <p:spPr>
          <a:xfrm xmlns:a="http://schemas.openxmlformats.org/drawingml/2006/main">
            <a:off x="590550" y="11334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A8BAC6"/>
                </a:solidFill>
                <a:latin typeface="Arial"/>
                <a:ea typeface="Arial"/>
                <a:cs typeface="Arial"/>
              </a:defRPr>
            </a:defPPr>
          </a:lstStyle>
          <a:p xmlns:a="http://schemas.openxmlformats.org/drawingml/2006/main">
            <a:pPr algn="l">
              <a:defRPr sz="1350" b="0" i="0">
                <a:solidFill>
                  <a:srgbClr val="A8BAC6"/>
                </a:solidFill>
                <a:latin typeface="Arial"/>
                <a:ea typeface="Arial"/>
                <a:cs typeface="Arial"/>
              </a:defRPr>
            </a:pPr>
            <a:r>
              <a:rPr sz="1350" b="0" i="0">
                <a:solidFill>
                  <a:srgbClr val="A8BAC6"/>
                </a:solidFill>
                <a:latin typeface="Arial"/>
                <a:ea typeface="Arial"/>
                <a:cs typeface="Arial"/>
              </a:rPr>
              <a:t>Implemented software path with physical measurement shown as pending</a:t>
            </a:r>
          </a:p>
        </p:txBody>
      </p:sp>
      <p:sp>
        <p:nvSpPr>
          <p:cNvPr id="6" name="">
            <a:extLst xmlns:a="http://schemas.openxmlformats.org/drawingml/2006/main">
              <a:ext uri="{FF2B5EF4-FFF2-40B4-BE49-F238E27FC236}">
                <a16:creationId xmlns:a16="http://schemas.microsoft.com/office/drawing/2014/main" id="{4D21351F-29A0-4C14-8F54-3185B5B109A3}"/>
              </a:ext>
            </a:extLst>
          </p:cNvPr>
          <p:cNvSpPr>
            <a:spLocks xmlns:a="http://schemas.openxmlformats.org/drawingml/2006/main" noGrp="1"/>
          </p:cNvSpPr>
          <p:nvPr/>
        </p:nvSpPr>
        <p:spPr>
          <a:xfrm xmlns:a="http://schemas.openxmlformats.org/drawingml/2006/main">
            <a:off x="666750" y="1457325"/>
            <a:ext cx="4429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2B76B"/>
                </a:solidFill>
                <a:latin typeface="Arial"/>
                <a:ea typeface="Arial"/>
                <a:cs typeface="Arial"/>
              </a:defRPr>
            </a:defPPr>
          </a:lstStyle>
          <a:p xmlns:a="http://schemas.openxmlformats.org/drawingml/2006/main">
            <a:pPr algn="l">
              <a:defRPr sz="975" b="1" i="0">
                <a:solidFill>
                  <a:srgbClr val="F2B76B"/>
                </a:solidFill>
                <a:latin typeface="Arial"/>
                <a:ea typeface="Arial"/>
                <a:cs typeface="Arial"/>
              </a:defRPr>
            </a:pPr>
            <a:r>
              <a:rPr sz="975" b="1" i="0">
                <a:solidFill>
                  <a:srgbClr val="F2B76B"/>
                </a:solidFill>
                <a:latin typeface="Arial"/>
                <a:ea typeface="Arial"/>
                <a:cs typeface="Arial"/>
              </a:rPr>
              <a:t>HARDWARE / PENDING</a:t>
            </a:r>
          </a:p>
        </p:txBody>
      </p:sp>
      <p:sp>
        <p:nvSpPr>
          <p:cNvPr id="7" name="">
            <a:extLst xmlns:a="http://schemas.openxmlformats.org/drawingml/2006/main">
              <a:ext uri="{FF2B5EF4-FFF2-40B4-BE49-F238E27FC236}">
                <a16:creationId xmlns:a16="http://schemas.microsoft.com/office/drawing/2014/main" id="{FAD9CAE2-0E1F-428B-925E-73F18E6D0CC5}"/>
              </a:ext>
            </a:extLst>
          </p:cNvPr>
          <p:cNvSpPr>
            <a:spLocks xmlns:a="http://schemas.openxmlformats.org/drawingml/2006/main" noGrp="1"/>
          </p:cNvSpPr>
          <p:nvPr/>
        </p:nvSpPr>
        <p:spPr>
          <a:xfrm xmlns:a="http://schemas.openxmlformats.org/drawingml/2006/main">
            <a:off x="5381625" y="14573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758"/>
          </a:bodyPr>
          <a:lstStyle xmlns:a="http://schemas.openxmlformats.org/drawingml/2006/main">
            <a:defPPr algn="ctr">
              <a:defRPr sz="825" b="1" i="0">
                <a:solidFill>
                  <a:srgbClr val="579FF2"/>
                </a:solidFill>
                <a:latin typeface="Arial"/>
                <a:ea typeface="Arial"/>
                <a:cs typeface="Arial"/>
              </a:defRPr>
            </a:defPPr>
          </a:lstStyle>
          <a:p xmlns:a="http://schemas.openxmlformats.org/drawingml/2006/main">
            <a:pPr algn="ctr">
              <a:defRPr sz="825" b="1" i="0">
                <a:solidFill>
                  <a:srgbClr val="579FF2"/>
                </a:solidFill>
                <a:latin typeface="Arial"/>
                <a:ea typeface="Arial"/>
                <a:cs typeface="Arial"/>
              </a:defRPr>
            </a:pPr>
            <a:r>
              <a:rPr sz="825" b="1" i="0">
                <a:solidFill>
                  <a:srgbClr val="579FF2"/>
                </a:solidFill>
                <a:latin typeface="Arial"/>
                <a:ea typeface="Arial"/>
                <a:cs typeface="Arial"/>
              </a:rPr>
              <a:t>COMMUNICATION / DEVICE LINK PENDING</a:t>
            </a:r>
          </a:p>
        </p:txBody>
      </p:sp>
      <p:sp>
        <p:nvSpPr>
          <p:cNvPr id="8" name="">
            <a:extLst xmlns:a="http://schemas.openxmlformats.org/drawingml/2006/main">
              <a:ext uri="{FF2B5EF4-FFF2-40B4-BE49-F238E27FC236}">
                <a16:creationId xmlns:a16="http://schemas.microsoft.com/office/drawing/2014/main" id="{7D67F0EA-2A20-4923-B104-1D037CA6D691}"/>
              </a:ext>
            </a:extLst>
          </p:cNvPr>
          <p:cNvSpPr>
            <a:spLocks xmlns:a="http://schemas.openxmlformats.org/drawingml/2006/main" noGrp="1"/>
          </p:cNvSpPr>
          <p:nvPr/>
        </p:nvSpPr>
        <p:spPr>
          <a:xfrm xmlns:a="http://schemas.openxmlformats.org/drawingml/2006/main">
            <a:off x="6953250" y="145732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4DD4AA"/>
                </a:solidFill>
                <a:latin typeface="Arial"/>
                <a:ea typeface="Arial"/>
                <a:cs typeface="Arial"/>
              </a:defRPr>
            </a:defPPr>
          </a:lstStyle>
          <a:p xmlns:a="http://schemas.openxmlformats.org/drawingml/2006/main">
            <a:pPr algn="l">
              <a:defRPr sz="975" b="1" i="0">
                <a:solidFill>
                  <a:srgbClr val="4DD4AA"/>
                </a:solidFill>
                <a:latin typeface="Arial"/>
                <a:ea typeface="Arial"/>
                <a:cs typeface="Arial"/>
              </a:defRPr>
            </a:pPr>
            <a:r>
              <a:rPr sz="975" b="1" i="0">
                <a:solidFill>
                  <a:srgbClr val="4DD4AA"/>
                </a:solidFill>
                <a:latin typeface="Arial"/>
                <a:ea typeface="Arial"/>
                <a:cs typeface="Arial"/>
              </a:rPr>
              <a:t>SOFTWARE / IMPLEMENTED</a:t>
            </a:r>
          </a:p>
        </p:txBody>
      </p:sp>
      <p:sp>
        <p:nvSpPr>
          <p:cNvPr id="9" name="">
            <a:extLst xmlns:a="http://schemas.openxmlformats.org/drawingml/2006/main">
              <a:ext uri="{FF2B5EF4-FFF2-40B4-BE49-F238E27FC236}">
                <a16:creationId xmlns:a16="http://schemas.microsoft.com/office/drawing/2014/main" id="{AEEAE960-E00F-421A-B2E2-68FBD72C2833}"/>
              </a:ext>
            </a:extLst>
          </p:cNvPr>
          <p:cNvSpPr>
            <a:spLocks xmlns:a="http://schemas.openxmlformats.org/drawingml/2006/main" noGrp="1"/>
          </p:cNvSpPr>
          <p:nvPr/>
        </p:nvSpPr>
        <p:spPr>
          <a:xfrm xmlns:a="http://schemas.openxmlformats.org/drawingml/2006/main">
            <a:off x="666750" y="1724025"/>
            <a:ext cx="1428750" cy="1238250"/>
          </a:xfrm>
          <a:prstGeom xmlns:a="http://schemas.openxmlformats.org/drawingml/2006/main" prst="roundRect">
            <a:avLst>
              <a:gd name="adj" fmla="val 10769"/>
            </a:avLst>
          </a:prstGeom>
          <a:solidFill xmlns:a="http://schemas.openxmlformats.org/drawingml/2006/main">
            <a:srgbClr val="211D19"/>
          </a:solidFill>
          <a:ln xmlns:a="http://schemas.openxmlformats.org/drawingml/2006/main" w="11430">
            <a:solidFill>
              <a:srgbClr val="F2B76B"/>
            </a:solidFill>
            <a:prstDash val="solid"/>
          </a:ln>
        </p:spPr>
      </p:sp>
      <p:sp>
        <p:nvSpPr>
          <p:cNvPr id="10" name="">
            <a:extLst xmlns:a="http://schemas.openxmlformats.org/drawingml/2006/main">
              <a:ext uri="{FF2B5EF4-FFF2-40B4-BE49-F238E27FC236}">
                <a16:creationId xmlns:a16="http://schemas.microsoft.com/office/drawing/2014/main" id="{1105085F-B4F3-47E0-9E35-98D08C12CB21}"/>
              </a:ext>
            </a:extLst>
          </p:cNvPr>
          <p:cNvSpPr>
            <a:spLocks xmlns:a="http://schemas.openxmlformats.org/drawingml/2006/main" noGrp="1"/>
          </p:cNvSpPr>
          <p:nvPr/>
        </p:nvSpPr>
        <p:spPr>
          <a:xfrm xmlns:a="http://schemas.openxmlformats.org/drawingml/2006/main">
            <a:off x="762000"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F2B76B"/>
                </a:solidFill>
                <a:latin typeface="Arial"/>
                <a:ea typeface="Arial"/>
                <a:cs typeface="Arial"/>
              </a:defRPr>
            </a:defPPr>
          </a:lstStyle>
          <a:p xmlns:a="http://schemas.openxmlformats.org/drawingml/2006/main">
            <a:pPr algn="ctr">
              <a:defRPr sz="1275" b="1" i="0">
                <a:solidFill>
                  <a:srgbClr val="F2B76B"/>
                </a:solidFill>
                <a:latin typeface="Arial"/>
                <a:ea typeface="Arial"/>
                <a:cs typeface="Arial"/>
              </a:defRPr>
            </a:pPr>
            <a:r>
              <a:rPr sz="1275" b="1" i="0">
                <a:solidFill>
                  <a:srgbClr val="F2B76B"/>
                </a:solidFill>
                <a:latin typeface="Arial"/>
                <a:ea typeface="Arial"/>
                <a:cs typeface="Arial"/>
              </a:rPr>
              <a:t>Battery pack</a:t>
            </a:r>
          </a:p>
        </p:txBody>
      </p:sp>
      <p:sp>
        <p:nvSpPr>
          <p:cNvPr id="11" name="">
            <a:extLst xmlns:a="http://schemas.openxmlformats.org/drawingml/2006/main">
              <a:ext uri="{FF2B5EF4-FFF2-40B4-BE49-F238E27FC236}">
                <a16:creationId xmlns:a16="http://schemas.microsoft.com/office/drawing/2014/main" id="{38811A81-AFD8-448D-89ED-3B4C2B258E1F}"/>
              </a:ext>
            </a:extLst>
          </p:cNvPr>
          <p:cNvSpPr>
            <a:spLocks xmlns:a="http://schemas.openxmlformats.org/drawingml/2006/main" noGrp="1"/>
          </p:cNvSpPr>
          <p:nvPr/>
        </p:nvSpPr>
        <p:spPr>
          <a:xfrm xmlns:a="http://schemas.openxmlformats.org/drawingml/2006/main">
            <a:off x="771525"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Prototype concept</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not integrated</a:t>
            </a:r>
          </a:p>
        </p:txBody>
      </p:sp>
      <p:sp>
        <p:nvSpPr>
          <p:cNvPr id="12" name="">
            <a:extLst xmlns:a="http://schemas.openxmlformats.org/drawingml/2006/main">
              <a:ext uri="{FF2B5EF4-FFF2-40B4-BE49-F238E27FC236}">
                <a16:creationId xmlns:a16="http://schemas.microsoft.com/office/drawing/2014/main" id="{EAA2BAEB-E87A-4FAB-8370-560EBAEE9844}"/>
              </a:ext>
            </a:extLst>
          </p:cNvPr>
          <p:cNvSpPr>
            <a:spLocks xmlns:a="http://schemas.openxmlformats.org/drawingml/2006/main" noGrp="1"/>
          </p:cNvSpPr>
          <p:nvPr/>
        </p:nvSpPr>
        <p:spPr>
          <a:xfrm xmlns:a="http://schemas.openxmlformats.org/drawingml/2006/main">
            <a:off x="2238375" y="1724025"/>
            <a:ext cx="1428750" cy="1238250"/>
          </a:xfrm>
          <a:prstGeom xmlns:a="http://schemas.openxmlformats.org/drawingml/2006/main" prst="roundRect">
            <a:avLst>
              <a:gd name="adj" fmla="val 10769"/>
            </a:avLst>
          </a:prstGeom>
          <a:solidFill xmlns:a="http://schemas.openxmlformats.org/drawingml/2006/main">
            <a:srgbClr val="211D19"/>
          </a:solidFill>
          <a:ln xmlns:a="http://schemas.openxmlformats.org/drawingml/2006/main" w="11430">
            <a:solidFill>
              <a:srgbClr val="F2B76B"/>
            </a:solidFill>
            <a:prstDash val="solid"/>
          </a:ln>
        </p:spPr>
      </p:sp>
      <p:sp>
        <p:nvSpPr>
          <p:cNvPr id="13" name="">
            <a:extLst xmlns:a="http://schemas.openxmlformats.org/drawingml/2006/main">
              <a:ext uri="{FF2B5EF4-FFF2-40B4-BE49-F238E27FC236}">
                <a16:creationId xmlns:a16="http://schemas.microsoft.com/office/drawing/2014/main" id="{F5BF075F-22B8-46E0-A687-8CA46675C310}"/>
              </a:ext>
            </a:extLst>
          </p:cNvPr>
          <p:cNvSpPr>
            <a:spLocks xmlns:a="http://schemas.openxmlformats.org/drawingml/2006/main" noGrp="1"/>
          </p:cNvSpPr>
          <p:nvPr/>
        </p:nvSpPr>
        <p:spPr>
          <a:xfrm xmlns:a="http://schemas.openxmlformats.org/drawingml/2006/main">
            <a:off x="2333625"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F2B76B"/>
                </a:solidFill>
                <a:latin typeface="Arial"/>
                <a:ea typeface="Arial"/>
                <a:cs typeface="Arial"/>
              </a:defRPr>
            </a:defPPr>
          </a:lstStyle>
          <a:p xmlns:a="http://schemas.openxmlformats.org/drawingml/2006/main">
            <a:pPr algn="ctr">
              <a:defRPr sz="1275" b="1" i="0">
                <a:solidFill>
                  <a:srgbClr val="F2B76B"/>
                </a:solidFill>
                <a:latin typeface="Arial"/>
                <a:ea typeface="Arial"/>
                <a:cs typeface="Arial"/>
              </a:defRPr>
            </a:pPr>
            <a:r>
              <a:rPr sz="1275" b="1" i="0">
                <a:solidFill>
                  <a:srgbClr val="F2B76B"/>
                </a:solidFill>
                <a:latin typeface="Arial"/>
                <a:ea typeface="Arial"/>
                <a:cs typeface="Arial"/>
              </a:rPr>
              <a:t>Measurement</a:t>
            </a:r>
          </a:p>
        </p:txBody>
      </p:sp>
      <p:sp>
        <p:nvSpPr>
          <p:cNvPr id="14" name="">
            <a:extLst xmlns:a="http://schemas.openxmlformats.org/drawingml/2006/main">
              <a:ext uri="{FF2B5EF4-FFF2-40B4-BE49-F238E27FC236}">
                <a16:creationId xmlns:a16="http://schemas.microsoft.com/office/drawing/2014/main" id="{C0D488C9-9E93-4D43-9319-8113D223C074}"/>
              </a:ext>
            </a:extLst>
          </p:cNvPr>
          <p:cNvSpPr>
            <a:spLocks xmlns:a="http://schemas.openxmlformats.org/drawingml/2006/main" noGrp="1"/>
          </p:cNvSpPr>
          <p:nvPr/>
        </p:nvSpPr>
        <p:spPr>
          <a:xfrm xmlns:a="http://schemas.openxmlformats.org/drawingml/2006/main">
            <a:off x="2343150"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7798"/>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Voltage, current</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4 temperature channels</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Sensors TBD</a:t>
            </a:r>
          </a:p>
        </p:txBody>
      </p:sp>
      <p:sp>
        <p:nvSpPr>
          <p:cNvPr id="15" name="">
            <a:extLst xmlns:a="http://schemas.openxmlformats.org/drawingml/2006/main">
              <a:ext uri="{FF2B5EF4-FFF2-40B4-BE49-F238E27FC236}">
                <a16:creationId xmlns:a16="http://schemas.microsoft.com/office/drawing/2014/main" id="{CEA287A4-637A-4762-953C-3346B0D2D1C9}"/>
              </a:ext>
            </a:extLst>
          </p:cNvPr>
          <p:cNvSpPr>
            <a:spLocks xmlns:a="http://schemas.openxmlformats.org/drawingml/2006/main" noGrp="1"/>
          </p:cNvSpPr>
          <p:nvPr/>
        </p:nvSpPr>
        <p:spPr>
          <a:xfrm xmlns:a="http://schemas.openxmlformats.org/drawingml/2006/main">
            <a:off x="3810000" y="1724025"/>
            <a:ext cx="1428750" cy="1238250"/>
          </a:xfrm>
          <a:prstGeom xmlns:a="http://schemas.openxmlformats.org/drawingml/2006/main" prst="roundRect">
            <a:avLst>
              <a:gd name="adj" fmla="val 10769"/>
            </a:avLst>
          </a:prstGeom>
          <a:solidFill xmlns:a="http://schemas.openxmlformats.org/drawingml/2006/main">
            <a:srgbClr val="211D19"/>
          </a:solidFill>
          <a:ln xmlns:a="http://schemas.openxmlformats.org/drawingml/2006/main" w="11430">
            <a:solidFill>
              <a:srgbClr val="F2B76B"/>
            </a:solidFill>
            <a:prstDash val="solid"/>
          </a:ln>
        </p:spPr>
      </p:sp>
      <p:sp>
        <p:nvSpPr>
          <p:cNvPr id="16" name="">
            <a:extLst xmlns:a="http://schemas.openxmlformats.org/drawingml/2006/main">
              <a:ext uri="{FF2B5EF4-FFF2-40B4-BE49-F238E27FC236}">
                <a16:creationId xmlns:a16="http://schemas.microsoft.com/office/drawing/2014/main" id="{EBE557F4-B4B5-4535-9743-3542A5B30B64}"/>
              </a:ext>
            </a:extLst>
          </p:cNvPr>
          <p:cNvSpPr>
            <a:spLocks xmlns:a="http://schemas.openxmlformats.org/drawingml/2006/main" noGrp="1"/>
          </p:cNvSpPr>
          <p:nvPr/>
        </p:nvSpPr>
        <p:spPr>
          <a:xfrm xmlns:a="http://schemas.openxmlformats.org/drawingml/2006/main">
            <a:off x="3905250"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F2B76B"/>
                </a:solidFill>
                <a:latin typeface="Arial"/>
                <a:ea typeface="Arial"/>
                <a:cs typeface="Arial"/>
              </a:defRPr>
            </a:defPPr>
          </a:lstStyle>
          <a:p xmlns:a="http://schemas.openxmlformats.org/drawingml/2006/main">
            <a:pPr algn="ctr">
              <a:defRPr sz="1275" b="1" i="0">
                <a:solidFill>
                  <a:srgbClr val="F2B76B"/>
                </a:solidFill>
                <a:latin typeface="Arial"/>
                <a:ea typeface="Arial"/>
                <a:cs typeface="Arial"/>
              </a:defRPr>
            </a:pPr>
            <a:r>
              <a:rPr sz="1275" b="1" i="0">
                <a:solidFill>
                  <a:srgbClr val="F2B76B"/>
                </a:solidFill>
                <a:latin typeface="Arial"/>
                <a:ea typeface="Arial"/>
                <a:cs typeface="Arial"/>
              </a:rPr>
              <a:t>ESP32</a:t>
            </a:r>
          </a:p>
        </p:txBody>
      </p:sp>
      <p:sp>
        <p:nvSpPr>
          <p:cNvPr id="17" name="">
            <a:extLst xmlns:a="http://schemas.openxmlformats.org/drawingml/2006/main">
              <a:ext uri="{FF2B5EF4-FFF2-40B4-BE49-F238E27FC236}">
                <a16:creationId xmlns:a16="http://schemas.microsoft.com/office/drawing/2014/main" id="{F810B4CC-9DAA-4F96-96A2-0537AE442E49}"/>
              </a:ext>
            </a:extLst>
          </p:cNvPr>
          <p:cNvSpPr>
            <a:spLocks xmlns:a="http://schemas.openxmlformats.org/drawingml/2006/main" noGrp="1"/>
          </p:cNvSpPr>
          <p:nvPr/>
        </p:nvSpPr>
        <p:spPr>
          <a:xfrm xmlns:a="http://schemas.openxmlformats.org/drawingml/2006/main">
            <a:off x="3914775"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Controller and firmware</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pending</a:t>
            </a:r>
          </a:p>
        </p:txBody>
      </p:sp>
      <p:sp>
        <p:nvSpPr>
          <p:cNvPr id="18" name="">
            <a:extLst xmlns:a="http://schemas.openxmlformats.org/drawingml/2006/main">
              <a:ext uri="{FF2B5EF4-FFF2-40B4-BE49-F238E27FC236}">
                <a16:creationId xmlns:a16="http://schemas.microsoft.com/office/drawing/2014/main" id="{8184F6A4-943B-4FC8-A11D-65EF4A02C110}"/>
              </a:ext>
            </a:extLst>
          </p:cNvPr>
          <p:cNvSpPr>
            <a:spLocks xmlns:a="http://schemas.openxmlformats.org/drawingml/2006/main" noGrp="1"/>
          </p:cNvSpPr>
          <p:nvPr/>
        </p:nvSpPr>
        <p:spPr>
          <a:xfrm xmlns:a="http://schemas.openxmlformats.org/drawingml/2006/main">
            <a:off x="5381625" y="1724025"/>
            <a:ext cx="1428750" cy="1238250"/>
          </a:xfrm>
          <a:prstGeom xmlns:a="http://schemas.openxmlformats.org/drawingml/2006/main" prst="roundRect">
            <a:avLst>
              <a:gd name="adj" fmla="val 10769"/>
            </a:avLst>
          </a:prstGeom>
          <a:solidFill xmlns:a="http://schemas.openxmlformats.org/drawingml/2006/main">
            <a:srgbClr val="152132"/>
          </a:solidFill>
          <a:ln xmlns:a="http://schemas.openxmlformats.org/drawingml/2006/main" w="11430">
            <a:solidFill>
              <a:srgbClr val="579FF2"/>
            </a:solidFill>
            <a:prstDash val="solid"/>
          </a:ln>
        </p:spPr>
      </p:sp>
      <p:sp>
        <p:nvSpPr>
          <p:cNvPr id="19" name="">
            <a:extLst xmlns:a="http://schemas.openxmlformats.org/drawingml/2006/main">
              <a:ext uri="{FF2B5EF4-FFF2-40B4-BE49-F238E27FC236}">
                <a16:creationId xmlns:a16="http://schemas.microsoft.com/office/drawing/2014/main" id="{3E0CC265-4F1F-4343-BAF6-2CBD04ABA078}"/>
              </a:ext>
            </a:extLst>
          </p:cNvPr>
          <p:cNvSpPr>
            <a:spLocks xmlns:a="http://schemas.openxmlformats.org/drawingml/2006/main" noGrp="1"/>
          </p:cNvSpPr>
          <p:nvPr/>
        </p:nvSpPr>
        <p:spPr>
          <a:xfrm xmlns:a="http://schemas.openxmlformats.org/drawingml/2006/main">
            <a:off x="5476875"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579FF2"/>
                </a:solidFill>
                <a:latin typeface="Arial"/>
                <a:ea typeface="Arial"/>
                <a:cs typeface="Arial"/>
              </a:defRPr>
            </a:defPPr>
          </a:lstStyle>
          <a:p xmlns:a="http://schemas.openxmlformats.org/drawingml/2006/main">
            <a:pPr algn="ctr">
              <a:defRPr sz="1275" b="1" i="0">
                <a:solidFill>
                  <a:srgbClr val="579FF2"/>
                </a:solidFill>
                <a:latin typeface="Arial"/>
                <a:ea typeface="Arial"/>
                <a:cs typeface="Arial"/>
              </a:defRPr>
            </a:pPr>
            <a:r>
              <a:rPr sz="1275" b="1" i="0">
                <a:solidFill>
                  <a:srgbClr val="579FF2"/>
                </a:solidFill>
                <a:latin typeface="Arial"/>
                <a:ea typeface="Arial"/>
                <a:cs typeface="Arial"/>
              </a:rPr>
              <a:t>HTTP JSON</a:t>
            </a:r>
          </a:p>
        </p:txBody>
      </p:sp>
      <p:sp>
        <p:nvSpPr>
          <p:cNvPr id="20" name="">
            <a:extLst xmlns:a="http://schemas.openxmlformats.org/drawingml/2006/main">
              <a:ext uri="{FF2B5EF4-FFF2-40B4-BE49-F238E27FC236}">
                <a16:creationId xmlns:a16="http://schemas.microsoft.com/office/drawing/2014/main" id="{F1FFAB87-CA37-44D3-AAAD-E30E1CC0BD37}"/>
              </a:ext>
            </a:extLst>
          </p:cNvPr>
          <p:cNvSpPr>
            <a:spLocks xmlns:a="http://schemas.openxmlformats.org/drawingml/2006/main" noGrp="1"/>
          </p:cNvSpPr>
          <p:nvPr/>
        </p:nvSpPr>
        <p:spPr>
          <a:xfrm xmlns:a="http://schemas.openxmlformats.org/drawingml/2006/main">
            <a:off x="5486400"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POST /api/telemetry</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API route ready</a:t>
            </a:r>
          </a:p>
        </p:txBody>
      </p:sp>
      <p:sp>
        <p:nvSpPr>
          <p:cNvPr id="21" name="">
            <a:extLst xmlns:a="http://schemas.openxmlformats.org/drawingml/2006/main">
              <a:ext uri="{FF2B5EF4-FFF2-40B4-BE49-F238E27FC236}">
                <a16:creationId xmlns:a16="http://schemas.microsoft.com/office/drawing/2014/main" id="{CD25A1B1-8511-447B-A48D-0331F97836B8}"/>
              </a:ext>
            </a:extLst>
          </p:cNvPr>
          <p:cNvSpPr>
            <a:spLocks xmlns:a="http://schemas.openxmlformats.org/drawingml/2006/main" noGrp="1"/>
          </p:cNvSpPr>
          <p:nvPr/>
        </p:nvSpPr>
        <p:spPr>
          <a:xfrm xmlns:a="http://schemas.openxmlformats.org/drawingml/2006/main">
            <a:off x="6953250" y="1724025"/>
            <a:ext cx="1428750" cy="1238250"/>
          </a:xfrm>
          <a:prstGeom xmlns:a="http://schemas.openxmlformats.org/drawingml/2006/main" prst="roundRect">
            <a:avLst>
              <a:gd name="adj" fmla="val 10769"/>
            </a:avLst>
          </a:prstGeom>
          <a:solidFill xmlns:a="http://schemas.openxmlformats.org/drawingml/2006/main">
            <a:srgbClr val="12241F"/>
          </a:solidFill>
          <a:ln xmlns:a="http://schemas.openxmlformats.org/drawingml/2006/main" w="11430">
            <a:solidFill>
              <a:srgbClr val="4DD4AA"/>
            </a:solidFill>
            <a:prstDash val="solid"/>
          </a:ln>
        </p:spPr>
      </p:sp>
      <p:sp>
        <p:nvSpPr>
          <p:cNvPr id="22" name="">
            <a:extLst xmlns:a="http://schemas.openxmlformats.org/drawingml/2006/main">
              <a:ext uri="{FF2B5EF4-FFF2-40B4-BE49-F238E27FC236}">
                <a16:creationId xmlns:a16="http://schemas.microsoft.com/office/drawing/2014/main" id="{328F1F94-5E3A-41B0-A857-570D814C78E6}"/>
              </a:ext>
            </a:extLst>
          </p:cNvPr>
          <p:cNvSpPr>
            <a:spLocks xmlns:a="http://schemas.openxmlformats.org/drawingml/2006/main" noGrp="1"/>
          </p:cNvSpPr>
          <p:nvPr/>
        </p:nvSpPr>
        <p:spPr>
          <a:xfrm xmlns:a="http://schemas.openxmlformats.org/drawingml/2006/main">
            <a:off x="7048500"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4DD4AA"/>
                </a:solidFill>
                <a:latin typeface="Arial"/>
                <a:ea typeface="Arial"/>
                <a:cs typeface="Arial"/>
              </a:defRPr>
            </a:defPPr>
          </a:lstStyle>
          <a:p xmlns:a="http://schemas.openxmlformats.org/drawingml/2006/main">
            <a:pPr algn="ctr">
              <a:defRPr sz="1275" b="1" i="0">
                <a:solidFill>
                  <a:srgbClr val="4DD4AA"/>
                </a:solidFill>
                <a:latin typeface="Arial"/>
                <a:ea typeface="Arial"/>
                <a:cs typeface="Arial"/>
              </a:defRPr>
            </a:pPr>
            <a:r>
              <a:rPr sz="1275" b="1" i="0">
                <a:solidFill>
                  <a:srgbClr val="4DD4AA"/>
                </a:solidFill>
                <a:latin typeface="Arial"/>
                <a:ea typeface="Arial"/>
                <a:cs typeface="Arial"/>
              </a:rPr>
              <a:t>FastAPI</a:t>
            </a:r>
          </a:p>
        </p:txBody>
      </p:sp>
      <p:sp>
        <p:nvSpPr>
          <p:cNvPr id="23" name="">
            <a:extLst xmlns:a="http://schemas.openxmlformats.org/drawingml/2006/main">
              <a:ext uri="{FF2B5EF4-FFF2-40B4-BE49-F238E27FC236}">
                <a16:creationId xmlns:a16="http://schemas.microsoft.com/office/drawing/2014/main" id="{C415CAB8-8432-4F24-AC6E-97D73DADD195}"/>
              </a:ext>
            </a:extLst>
          </p:cNvPr>
          <p:cNvSpPr>
            <a:spLocks xmlns:a="http://schemas.openxmlformats.org/drawingml/2006/main" noGrp="1"/>
          </p:cNvSpPr>
          <p:nvPr/>
        </p:nvSpPr>
        <p:spPr>
          <a:xfrm xmlns:a="http://schemas.openxmlformats.org/drawingml/2006/main">
            <a:off x="7058025"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Pydantic validates</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telemetry payload</a:t>
            </a:r>
          </a:p>
        </p:txBody>
      </p:sp>
      <p:sp>
        <p:nvSpPr>
          <p:cNvPr id="24" name="">
            <a:extLst xmlns:a="http://schemas.openxmlformats.org/drawingml/2006/main">
              <a:ext uri="{FF2B5EF4-FFF2-40B4-BE49-F238E27FC236}">
                <a16:creationId xmlns:a16="http://schemas.microsoft.com/office/drawing/2014/main" id="{261ABBE4-A28D-4612-8E09-D58020AE46D1}"/>
              </a:ext>
            </a:extLst>
          </p:cNvPr>
          <p:cNvSpPr>
            <a:spLocks xmlns:a="http://schemas.openxmlformats.org/drawingml/2006/main" noGrp="1"/>
          </p:cNvSpPr>
          <p:nvPr/>
        </p:nvSpPr>
        <p:spPr>
          <a:xfrm xmlns:a="http://schemas.openxmlformats.org/drawingml/2006/main">
            <a:off x="8524875" y="1724025"/>
            <a:ext cx="1428750" cy="1238250"/>
          </a:xfrm>
          <a:prstGeom xmlns:a="http://schemas.openxmlformats.org/drawingml/2006/main" prst="roundRect">
            <a:avLst>
              <a:gd name="adj" fmla="val 10769"/>
            </a:avLst>
          </a:prstGeom>
          <a:solidFill xmlns:a="http://schemas.openxmlformats.org/drawingml/2006/main">
            <a:srgbClr val="12241F"/>
          </a:solidFill>
          <a:ln xmlns:a="http://schemas.openxmlformats.org/drawingml/2006/main" w="11430">
            <a:solidFill>
              <a:srgbClr val="4DD4AA"/>
            </a:solidFill>
            <a:prstDash val="solid"/>
          </a:ln>
        </p:spPr>
      </p:sp>
      <p:sp>
        <p:nvSpPr>
          <p:cNvPr id="25" name="">
            <a:extLst xmlns:a="http://schemas.openxmlformats.org/drawingml/2006/main">
              <a:ext uri="{FF2B5EF4-FFF2-40B4-BE49-F238E27FC236}">
                <a16:creationId xmlns:a16="http://schemas.microsoft.com/office/drawing/2014/main" id="{00FBB1A2-1D75-4CEE-BB7D-AB3B131FF908}"/>
              </a:ext>
            </a:extLst>
          </p:cNvPr>
          <p:cNvSpPr>
            <a:spLocks xmlns:a="http://schemas.openxmlformats.org/drawingml/2006/main" noGrp="1"/>
          </p:cNvSpPr>
          <p:nvPr/>
        </p:nvSpPr>
        <p:spPr>
          <a:xfrm xmlns:a="http://schemas.openxmlformats.org/drawingml/2006/main">
            <a:off x="8620125"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137"/>
          </a:bodyPr>
          <a:lstStyle xmlns:a="http://schemas.openxmlformats.org/drawingml/2006/main">
            <a:defPPr algn="ctr">
              <a:defRPr sz="1275" b="1" i="0">
                <a:solidFill>
                  <a:srgbClr val="4DD4AA"/>
                </a:solidFill>
                <a:latin typeface="Arial"/>
                <a:ea typeface="Arial"/>
                <a:cs typeface="Arial"/>
              </a:defRPr>
            </a:defPPr>
          </a:lstStyle>
          <a:p xmlns:a="http://schemas.openxmlformats.org/drawingml/2006/main">
            <a:pPr algn="ctr">
              <a:defRPr sz="1275" b="1" i="0">
                <a:solidFill>
                  <a:srgbClr val="4DD4AA"/>
                </a:solidFill>
                <a:latin typeface="Arial"/>
                <a:ea typeface="Arial"/>
                <a:cs typeface="Arial"/>
              </a:defRPr>
            </a:pPr>
            <a:r>
              <a:rPr sz="1275" b="1" i="0">
                <a:solidFill>
                  <a:srgbClr val="4DD4AA"/>
                </a:solidFill>
                <a:latin typeface="Arial"/>
                <a:ea typeface="Arial"/>
                <a:cs typeface="Arial"/>
              </a:rPr>
              <a:t>SQLite + services</a:t>
            </a:r>
          </a:p>
        </p:txBody>
      </p:sp>
      <p:sp>
        <p:nvSpPr>
          <p:cNvPr id="26" name="">
            <a:extLst xmlns:a="http://schemas.openxmlformats.org/drawingml/2006/main">
              <a:ext uri="{FF2B5EF4-FFF2-40B4-BE49-F238E27FC236}">
                <a16:creationId xmlns:a16="http://schemas.microsoft.com/office/drawing/2014/main" id="{A2C0C79C-1922-4346-8A7A-8AC9AA39494E}"/>
              </a:ext>
            </a:extLst>
          </p:cNvPr>
          <p:cNvSpPr>
            <a:spLocks xmlns:a="http://schemas.openxmlformats.org/drawingml/2006/main" noGrp="1"/>
          </p:cNvSpPr>
          <p:nvPr/>
        </p:nvSpPr>
        <p:spPr>
          <a:xfrm xmlns:a="http://schemas.openxmlformats.org/drawingml/2006/main">
            <a:off x="8629650"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History, risk rules</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and alert records</a:t>
            </a:r>
          </a:p>
        </p:txBody>
      </p:sp>
      <p:sp>
        <p:nvSpPr>
          <p:cNvPr id="27" name="">
            <a:extLst xmlns:a="http://schemas.openxmlformats.org/drawingml/2006/main">
              <a:ext uri="{FF2B5EF4-FFF2-40B4-BE49-F238E27FC236}">
                <a16:creationId xmlns:a16="http://schemas.microsoft.com/office/drawing/2014/main" id="{20F13F65-C316-413C-B703-13A8DAE199A7}"/>
              </a:ext>
            </a:extLst>
          </p:cNvPr>
          <p:cNvSpPr>
            <a:spLocks xmlns:a="http://schemas.openxmlformats.org/drawingml/2006/main" noGrp="1"/>
          </p:cNvSpPr>
          <p:nvPr/>
        </p:nvSpPr>
        <p:spPr>
          <a:xfrm xmlns:a="http://schemas.openxmlformats.org/drawingml/2006/main">
            <a:off x="10096500" y="1724025"/>
            <a:ext cx="1428750" cy="1238250"/>
          </a:xfrm>
          <a:prstGeom xmlns:a="http://schemas.openxmlformats.org/drawingml/2006/main" prst="roundRect">
            <a:avLst>
              <a:gd name="adj" fmla="val 10769"/>
            </a:avLst>
          </a:prstGeom>
          <a:solidFill xmlns:a="http://schemas.openxmlformats.org/drawingml/2006/main">
            <a:srgbClr val="12241F"/>
          </a:solidFill>
          <a:ln xmlns:a="http://schemas.openxmlformats.org/drawingml/2006/main" w="11430">
            <a:solidFill>
              <a:srgbClr val="4DD4AA"/>
            </a:solidFill>
            <a:prstDash val="solid"/>
          </a:ln>
        </p:spPr>
      </p:sp>
      <p:sp>
        <p:nvSpPr>
          <p:cNvPr id="28" name="">
            <a:extLst xmlns:a="http://schemas.openxmlformats.org/drawingml/2006/main">
              <a:ext uri="{FF2B5EF4-FFF2-40B4-BE49-F238E27FC236}">
                <a16:creationId xmlns:a16="http://schemas.microsoft.com/office/drawing/2014/main" id="{2AB6BC22-5404-48A0-966B-590E72212C96}"/>
              </a:ext>
            </a:extLst>
          </p:cNvPr>
          <p:cNvSpPr>
            <a:spLocks xmlns:a="http://schemas.openxmlformats.org/drawingml/2006/main" noGrp="1"/>
          </p:cNvSpPr>
          <p:nvPr/>
        </p:nvSpPr>
        <p:spPr>
          <a:xfrm xmlns:a="http://schemas.openxmlformats.org/drawingml/2006/main">
            <a:off x="10191750"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4DD4AA"/>
                </a:solidFill>
                <a:latin typeface="Arial"/>
                <a:ea typeface="Arial"/>
                <a:cs typeface="Arial"/>
              </a:defRPr>
            </a:defPPr>
          </a:lstStyle>
          <a:p xmlns:a="http://schemas.openxmlformats.org/drawingml/2006/main">
            <a:pPr algn="ctr">
              <a:defRPr sz="1275" b="1" i="0">
                <a:solidFill>
                  <a:srgbClr val="4DD4AA"/>
                </a:solidFill>
                <a:latin typeface="Arial"/>
                <a:ea typeface="Arial"/>
                <a:cs typeface="Arial"/>
              </a:defRPr>
            </a:pPr>
            <a:r>
              <a:rPr sz="1275" b="1" i="0">
                <a:solidFill>
                  <a:srgbClr val="4DD4AA"/>
                </a:solidFill>
                <a:latin typeface="Arial"/>
                <a:ea typeface="Arial"/>
                <a:cs typeface="Arial"/>
              </a:rPr>
              <a:t>Dashboard</a:t>
            </a:r>
          </a:p>
        </p:txBody>
      </p:sp>
      <p:sp>
        <p:nvSpPr>
          <p:cNvPr id="29" name="">
            <a:extLst xmlns:a="http://schemas.openxmlformats.org/drawingml/2006/main">
              <a:ext uri="{FF2B5EF4-FFF2-40B4-BE49-F238E27FC236}">
                <a16:creationId xmlns:a16="http://schemas.microsoft.com/office/drawing/2014/main" id="{094707D6-CB83-409C-ACC5-2E28D09DE79C}"/>
              </a:ext>
            </a:extLst>
          </p:cNvPr>
          <p:cNvSpPr>
            <a:spLocks xmlns:a="http://schemas.openxmlformats.org/drawingml/2006/main" noGrp="1"/>
          </p:cNvSpPr>
          <p:nvPr/>
        </p:nvSpPr>
        <p:spPr>
          <a:xfrm xmlns:a="http://schemas.openxmlformats.org/drawingml/2006/main">
            <a:off x="10201275"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5 vanilla JS views</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REST polling every 5 s</a:t>
            </a:r>
          </a:p>
        </p:txBody>
      </p:sp>
      <p:sp>
        <p:nvSpPr>
          <p:cNvPr id="30" name="">
            <a:extLst xmlns:a="http://schemas.openxmlformats.org/drawingml/2006/main">
              <a:ext uri="{FF2B5EF4-FFF2-40B4-BE49-F238E27FC236}">
                <a16:creationId xmlns:a16="http://schemas.microsoft.com/office/drawing/2014/main" id="{36835B6E-10E6-47BC-9F28-75B3FD9484A7}"/>
              </a:ext>
            </a:extLst>
          </p:cNvPr>
          <p:cNvSpPr>
            <a:spLocks xmlns:a="http://schemas.openxmlformats.org/drawingml/2006/main" noGrp="1"/>
          </p:cNvSpPr>
          <p:nvPr/>
        </p:nvSpPr>
        <p:spPr>
          <a:xfrm xmlns:a="http://schemas.openxmlformats.org/drawingml/2006/main">
            <a:off x="2105025" y="2286000"/>
            <a:ext cx="123825" cy="114300"/>
          </a:xfrm>
          <a:prstGeom xmlns:a="http://schemas.openxmlformats.org/drawingml/2006/main" prst="rightArrow">
            <a:avLst/>
          </a:prstGeom>
          <a:solidFill xmlns:a="http://schemas.openxmlformats.org/drawingml/2006/main">
            <a:srgbClr val="F2B76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CFB9A0C-3F5D-4DA6-9CD1-3C54ADF10136}"/>
              </a:ext>
            </a:extLst>
          </p:cNvPr>
          <p:cNvSpPr>
            <a:spLocks xmlns:a="http://schemas.openxmlformats.org/drawingml/2006/main" noGrp="1"/>
          </p:cNvSpPr>
          <p:nvPr/>
        </p:nvSpPr>
        <p:spPr>
          <a:xfrm xmlns:a="http://schemas.openxmlformats.org/drawingml/2006/main">
            <a:off x="3676650" y="2286000"/>
            <a:ext cx="123825" cy="114300"/>
          </a:xfrm>
          <a:prstGeom xmlns:a="http://schemas.openxmlformats.org/drawingml/2006/main" prst="rightArrow">
            <a:avLst/>
          </a:prstGeom>
          <a:solidFill xmlns:a="http://schemas.openxmlformats.org/drawingml/2006/main">
            <a:srgbClr val="F2B76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2A05A53-0283-4FF2-A6A7-CB757C1EC36A}"/>
              </a:ext>
            </a:extLst>
          </p:cNvPr>
          <p:cNvSpPr>
            <a:spLocks xmlns:a="http://schemas.openxmlformats.org/drawingml/2006/main" noGrp="1"/>
          </p:cNvSpPr>
          <p:nvPr/>
        </p:nvSpPr>
        <p:spPr>
          <a:xfrm xmlns:a="http://schemas.openxmlformats.org/drawingml/2006/main">
            <a:off x="5248275" y="2286000"/>
            <a:ext cx="123825" cy="114300"/>
          </a:xfrm>
          <a:prstGeom xmlns:a="http://schemas.openxmlformats.org/drawingml/2006/main" prst="rightArrow">
            <a:avLst/>
          </a:prstGeom>
          <a:solidFill xmlns:a="http://schemas.openxmlformats.org/drawingml/2006/main">
            <a:srgbClr val="579F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8805A4F-2859-43BC-B575-615F7BC18D68}"/>
              </a:ext>
            </a:extLst>
          </p:cNvPr>
          <p:cNvSpPr>
            <a:spLocks xmlns:a="http://schemas.openxmlformats.org/drawingml/2006/main" noGrp="1"/>
          </p:cNvSpPr>
          <p:nvPr/>
        </p:nvSpPr>
        <p:spPr>
          <a:xfrm xmlns:a="http://schemas.openxmlformats.org/drawingml/2006/main">
            <a:off x="6819900" y="2286000"/>
            <a:ext cx="12382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B92C722-7573-433B-988F-616B9A88FD0A}"/>
              </a:ext>
            </a:extLst>
          </p:cNvPr>
          <p:cNvSpPr>
            <a:spLocks xmlns:a="http://schemas.openxmlformats.org/drawingml/2006/main" noGrp="1"/>
          </p:cNvSpPr>
          <p:nvPr/>
        </p:nvSpPr>
        <p:spPr>
          <a:xfrm xmlns:a="http://schemas.openxmlformats.org/drawingml/2006/main">
            <a:off x="8391525" y="2286000"/>
            <a:ext cx="12382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3A5D1A4-5382-4441-A1EA-F14FBAEB0D7E}"/>
              </a:ext>
            </a:extLst>
          </p:cNvPr>
          <p:cNvSpPr>
            <a:spLocks xmlns:a="http://schemas.openxmlformats.org/drawingml/2006/main" noGrp="1"/>
          </p:cNvSpPr>
          <p:nvPr/>
        </p:nvSpPr>
        <p:spPr>
          <a:xfrm xmlns:a="http://schemas.openxmlformats.org/drawingml/2006/main">
            <a:off x="9963150" y="2286000"/>
            <a:ext cx="12382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F4920D5-3FBA-42B9-9EBD-AAA7F79535C5}"/>
              </a:ext>
            </a:extLst>
          </p:cNvPr>
          <p:cNvSpPr>
            <a:spLocks xmlns:a="http://schemas.openxmlformats.org/drawingml/2006/main" noGrp="1"/>
          </p:cNvSpPr>
          <p:nvPr/>
        </p:nvSpPr>
        <p:spPr>
          <a:xfrm xmlns:a="http://schemas.openxmlformats.org/drawingml/2006/main">
            <a:off x="571500" y="32099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WHAT THE SOFTWARE DOES TODAY</a:t>
            </a:r>
          </a:p>
        </p:txBody>
      </p:sp>
      <p:sp>
        <p:nvSpPr>
          <p:cNvPr id="37" name="">
            <a:extLst xmlns:a="http://schemas.openxmlformats.org/drawingml/2006/main">
              <a:ext uri="{FF2B5EF4-FFF2-40B4-BE49-F238E27FC236}">
                <a16:creationId xmlns:a16="http://schemas.microsoft.com/office/drawing/2014/main" id="{F4D3548A-03EE-4DC4-B2D1-5BEDBC7F9A40}"/>
              </a:ext>
            </a:extLst>
          </p:cNvPr>
          <p:cNvSpPr>
            <a:spLocks xmlns:a="http://schemas.openxmlformats.org/drawingml/2006/main" noGrp="1"/>
          </p:cNvSpPr>
          <p:nvPr/>
        </p:nvSpPr>
        <p:spPr>
          <a:xfrm xmlns:a="http://schemas.openxmlformats.org/drawingml/2006/main">
            <a:off x="571500" y="3514725"/>
            <a:ext cx="3562350" cy="1238250"/>
          </a:xfrm>
          <a:prstGeom xmlns:a="http://schemas.openxmlformats.org/drawingml/2006/main" prst="roundRect">
            <a:avLst>
              <a:gd name="adj" fmla="val 10769"/>
            </a:avLst>
          </a:prstGeom>
          <a:solidFill xmlns:a="http://schemas.openxmlformats.org/drawingml/2006/main">
            <a:srgbClr val="102230"/>
          </a:solidFill>
          <a:ln xmlns:a="http://schemas.openxmlformats.org/drawingml/2006/main" w="11430">
            <a:solidFill>
              <a:srgbClr val="294353"/>
            </a:solidFill>
            <a:prstDash val="solid"/>
          </a:ln>
        </p:spPr>
      </p:sp>
      <p:sp>
        <p:nvSpPr>
          <p:cNvPr id="38" name="">
            <a:extLst xmlns:a="http://schemas.openxmlformats.org/drawingml/2006/main">
              <a:ext uri="{FF2B5EF4-FFF2-40B4-BE49-F238E27FC236}">
                <a16:creationId xmlns:a16="http://schemas.microsoft.com/office/drawing/2014/main" id="{112F036B-49D3-40A2-B7DB-D8510B384D3B}"/>
              </a:ext>
            </a:extLst>
          </p:cNvPr>
          <p:cNvSpPr>
            <a:spLocks xmlns:a="http://schemas.openxmlformats.org/drawingml/2006/main" noGrp="1"/>
          </p:cNvSpPr>
          <p:nvPr/>
        </p:nvSpPr>
        <p:spPr>
          <a:xfrm xmlns:a="http://schemas.openxmlformats.org/drawingml/2006/main">
            <a:off x="742950" y="36671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579FF2"/>
                </a:solidFill>
                <a:latin typeface="Arial"/>
                <a:ea typeface="Arial"/>
                <a:cs typeface="Arial"/>
              </a:defRPr>
            </a:defPPr>
          </a:lstStyle>
          <a:p xmlns:a="http://schemas.openxmlformats.org/drawingml/2006/main">
            <a:pPr algn="l">
              <a:defRPr sz="975" b="1" i="0">
                <a:solidFill>
                  <a:srgbClr val="579FF2"/>
                </a:solidFill>
                <a:latin typeface="Arial"/>
                <a:ea typeface="Arial"/>
                <a:cs typeface="Arial"/>
              </a:defRPr>
            </a:pPr>
            <a:r>
              <a:rPr sz="975" b="1" i="0">
                <a:solidFill>
                  <a:srgbClr val="579FF2"/>
                </a:solidFill>
                <a:latin typeface="Arial"/>
                <a:ea typeface="Arial"/>
                <a:cs typeface="Arial"/>
              </a:rPr>
              <a:t>VALIDATED TELEMETRY</a:t>
            </a:r>
          </a:p>
        </p:txBody>
      </p:sp>
      <p:sp>
        <p:nvSpPr>
          <p:cNvPr id="39" name="">
            <a:extLst xmlns:a="http://schemas.openxmlformats.org/drawingml/2006/main">
              <a:ext uri="{FF2B5EF4-FFF2-40B4-BE49-F238E27FC236}">
                <a16:creationId xmlns:a16="http://schemas.microsoft.com/office/drawing/2014/main" id="{CBF55B37-46CB-46A6-B228-BE8B5D15F425}"/>
              </a:ext>
            </a:extLst>
          </p:cNvPr>
          <p:cNvSpPr>
            <a:spLocks xmlns:a="http://schemas.openxmlformats.org/drawingml/2006/main" noGrp="1"/>
          </p:cNvSpPr>
          <p:nvPr/>
        </p:nvSpPr>
        <p:spPr>
          <a:xfrm xmlns:a="http://schemas.openxmlformats.org/drawingml/2006/main">
            <a:off x="742950" y="3981450"/>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3F7FA"/>
                </a:solidFill>
                <a:latin typeface="Arial"/>
                <a:ea typeface="Arial"/>
                <a:cs typeface="Arial"/>
              </a:defRPr>
            </a:defPPr>
          </a:lstStyle>
          <a:p xmlns:a="http://schemas.openxmlformats.org/drawingml/2006/main">
            <a:pPr algn="l">
              <a:defRPr sz="1200" b="0" i="0">
                <a:solidFill>
                  <a:srgbClr val="F3F7FA"/>
                </a:solidFill>
                <a:latin typeface="Arial"/>
                <a:ea typeface="Arial"/>
                <a:cs typeface="Arial"/>
              </a:defRPr>
            </a:pPr>
            <a:r>
              <a:rPr sz="1200" b="0" i="0">
                <a:solidFill>
                  <a:srgbClr val="F3F7FA"/>
                </a:solidFill>
                <a:latin typeface="Arial"/>
                <a:ea typeface="Arial"/>
                <a:cs typeface="Arial"/>
              </a:rPr>
              <a:t>Schema accepts voltage, current, SOC and four temperatures. Power is derived if omitted. SOH is optional.</a:t>
            </a:r>
          </a:p>
        </p:txBody>
      </p:sp>
      <p:sp>
        <p:nvSpPr>
          <p:cNvPr id="40" name="">
            <a:extLst xmlns:a="http://schemas.openxmlformats.org/drawingml/2006/main">
              <a:ext uri="{FF2B5EF4-FFF2-40B4-BE49-F238E27FC236}">
                <a16:creationId xmlns:a16="http://schemas.microsoft.com/office/drawing/2014/main" id="{7B70040C-DCF0-494E-ADAD-570A74D7560E}"/>
              </a:ext>
            </a:extLst>
          </p:cNvPr>
          <p:cNvSpPr>
            <a:spLocks xmlns:a="http://schemas.openxmlformats.org/drawingml/2006/main" noGrp="1"/>
          </p:cNvSpPr>
          <p:nvPr/>
        </p:nvSpPr>
        <p:spPr>
          <a:xfrm xmlns:a="http://schemas.openxmlformats.org/drawingml/2006/main">
            <a:off x="4314825" y="3514725"/>
            <a:ext cx="3562350" cy="1238250"/>
          </a:xfrm>
          <a:prstGeom xmlns:a="http://schemas.openxmlformats.org/drawingml/2006/main" prst="roundRect">
            <a:avLst>
              <a:gd name="adj" fmla="val 10769"/>
            </a:avLst>
          </a:prstGeom>
          <a:solidFill xmlns:a="http://schemas.openxmlformats.org/drawingml/2006/main">
            <a:srgbClr val="102230"/>
          </a:solidFill>
          <a:ln xmlns:a="http://schemas.openxmlformats.org/drawingml/2006/main" w="11430">
            <a:solidFill>
              <a:srgbClr val="294353"/>
            </a:solidFill>
            <a:prstDash val="solid"/>
          </a:ln>
        </p:spPr>
      </p:sp>
      <p:sp>
        <p:nvSpPr>
          <p:cNvPr id="41" name="">
            <a:extLst xmlns:a="http://schemas.openxmlformats.org/drawingml/2006/main">
              <a:ext uri="{FF2B5EF4-FFF2-40B4-BE49-F238E27FC236}">
                <a16:creationId xmlns:a16="http://schemas.microsoft.com/office/drawing/2014/main" id="{8BE8C6AE-AB10-44C8-BFC8-064C5F951D5B}"/>
              </a:ext>
            </a:extLst>
          </p:cNvPr>
          <p:cNvSpPr>
            <a:spLocks xmlns:a="http://schemas.openxmlformats.org/drawingml/2006/main" noGrp="1"/>
          </p:cNvSpPr>
          <p:nvPr/>
        </p:nvSpPr>
        <p:spPr>
          <a:xfrm xmlns:a="http://schemas.openxmlformats.org/drawingml/2006/main">
            <a:off x="4486275" y="36671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55D9E8"/>
                </a:solidFill>
                <a:latin typeface="Arial"/>
                <a:ea typeface="Arial"/>
                <a:cs typeface="Arial"/>
              </a:defRPr>
            </a:defPPr>
          </a:lstStyle>
          <a:p xmlns:a="http://schemas.openxmlformats.org/drawingml/2006/main">
            <a:pPr algn="l">
              <a:defRPr sz="975" b="1" i="0">
                <a:solidFill>
                  <a:srgbClr val="55D9E8"/>
                </a:solidFill>
                <a:latin typeface="Arial"/>
                <a:ea typeface="Arial"/>
                <a:cs typeface="Arial"/>
              </a:defRPr>
            </a:pPr>
            <a:r>
              <a:rPr sz="975" b="1" i="0">
                <a:solidFill>
                  <a:srgbClr val="55D9E8"/>
                </a:solidFill>
                <a:latin typeface="Arial"/>
                <a:ea typeface="Arial"/>
                <a:cs typeface="Arial"/>
              </a:rPr>
              <a:t>RISK, HISTORY AND ALERTS</a:t>
            </a:r>
          </a:p>
        </p:txBody>
      </p:sp>
      <p:sp>
        <p:nvSpPr>
          <p:cNvPr id="42" name="">
            <a:extLst xmlns:a="http://schemas.openxmlformats.org/drawingml/2006/main">
              <a:ext uri="{FF2B5EF4-FFF2-40B4-BE49-F238E27FC236}">
                <a16:creationId xmlns:a16="http://schemas.microsoft.com/office/drawing/2014/main" id="{61170F72-00DC-430B-AF6A-32DD322EEDC0}"/>
              </a:ext>
            </a:extLst>
          </p:cNvPr>
          <p:cNvSpPr>
            <a:spLocks xmlns:a="http://schemas.openxmlformats.org/drawingml/2006/main" noGrp="1"/>
          </p:cNvSpPr>
          <p:nvPr/>
        </p:nvSpPr>
        <p:spPr>
          <a:xfrm xmlns:a="http://schemas.openxmlformats.org/drawingml/2006/main">
            <a:off x="4486275" y="3981450"/>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3F7FA"/>
                </a:solidFill>
                <a:latin typeface="Arial"/>
                <a:ea typeface="Arial"/>
                <a:cs typeface="Arial"/>
              </a:defRPr>
            </a:defPPr>
          </a:lstStyle>
          <a:p xmlns:a="http://schemas.openxmlformats.org/drawingml/2006/main">
            <a:pPr algn="l">
              <a:defRPr sz="1200" b="0" i="0">
                <a:solidFill>
                  <a:srgbClr val="F3F7FA"/>
                </a:solidFill>
                <a:latin typeface="Arial"/>
                <a:ea typeface="Arial"/>
                <a:cs typeface="Arial"/>
              </a:defRPr>
            </a:pPr>
            <a:r>
              <a:rPr sz="1200" b="0" i="0">
                <a:solidFill>
                  <a:srgbClr val="F3F7FA"/>
                </a:solidFill>
                <a:latin typeface="Arial"/>
                <a:ea typeface="Arial"/>
                <a:cs typeface="Arial"/>
              </a:rPr>
              <a:t>SQLite stores readings and alerts. Risk logic uses the hottest cell and recent trend against a configured threshold.</a:t>
            </a:r>
          </a:p>
        </p:txBody>
      </p:sp>
      <p:sp>
        <p:nvSpPr>
          <p:cNvPr id="43" name="">
            <a:extLst xmlns:a="http://schemas.openxmlformats.org/drawingml/2006/main">
              <a:ext uri="{FF2B5EF4-FFF2-40B4-BE49-F238E27FC236}">
                <a16:creationId xmlns:a16="http://schemas.microsoft.com/office/drawing/2014/main" id="{0D7F1964-882C-4EFA-A86E-BD01C0762ED1}"/>
              </a:ext>
            </a:extLst>
          </p:cNvPr>
          <p:cNvSpPr>
            <a:spLocks xmlns:a="http://schemas.openxmlformats.org/drawingml/2006/main" noGrp="1"/>
          </p:cNvSpPr>
          <p:nvPr/>
        </p:nvSpPr>
        <p:spPr>
          <a:xfrm xmlns:a="http://schemas.openxmlformats.org/drawingml/2006/main">
            <a:off x="8058150" y="3514725"/>
            <a:ext cx="3562350" cy="1238250"/>
          </a:xfrm>
          <a:prstGeom xmlns:a="http://schemas.openxmlformats.org/drawingml/2006/main" prst="roundRect">
            <a:avLst>
              <a:gd name="adj" fmla="val 10769"/>
            </a:avLst>
          </a:prstGeom>
          <a:solidFill xmlns:a="http://schemas.openxmlformats.org/drawingml/2006/main">
            <a:srgbClr val="102230"/>
          </a:solidFill>
          <a:ln xmlns:a="http://schemas.openxmlformats.org/drawingml/2006/main" w="11430">
            <a:solidFill>
              <a:srgbClr val="294353"/>
            </a:solidFill>
            <a:prstDash val="solid"/>
          </a:ln>
        </p:spPr>
      </p:sp>
      <p:sp>
        <p:nvSpPr>
          <p:cNvPr id="44" name="">
            <a:extLst xmlns:a="http://schemas.openxmlformats.org/drawingml/2006/main">
              <a:ext uri="{FF2B5EF4-FFF2-40B4-BE49-F238E27FC236}">
                <a16:creationId xmlns:a16="http://schemas.microsoft.com/office/drawing/2014/main" id="{E3EBDAC6-E3F7-4636-8860-A9B731852861}"/>
              </a:ext>
            </a:extLst>
          </p:cNvPr>
          <p:cNvSpPr>
            <a:spLocks xmlns:a="http://schemas.openxmlformats.org/drawingml/2006/main" noGrp="1"/>
          </p:cNvSpPr>
          <p:nvPr/>
        </p:nvSpPr>
        <p:spPr>
          <a:xfrm xmlns:a="http://schemas.openxmlformats.org/drawingml/2006/main">
            <a:off x="8229600" y="36671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4DD4AA"/>
                </a:solidFill>
                <a:latin typeface="Arial"/>
                <a:ea typeface="Arial"/>
                <a:cs typeface="Arial"/>
              </a:defRPr>
            </a:defPPr>
          </a:lstStyle>
          <a:p xmlns:a="http://schemas.openxmlformats.org/drawingml/2006/main">
            <a:pPr algn="l">
              <a:defRPr sz="975" b="1" i="0">
                <a:solidFill>
                  <a:srgbClr val="4DD4AA"/>
                </a:solidFill>
                <a:latin typeface="Arial"/>
                <a:ea typeface="Arial"/>
                <a:cs typeface="Arial"/>
              </a:defRPr>
            </a:pPr>
            <a:r>
              <a:rPr sz="975" b="1" i="0">
                <a:solidFill>
                  <a:srgbClr val="4DD4AA"/>
                </a:solidFill>
                <a:latin typeface="Arial"/>
                <a:ea typeface="Arial"/>
                <a:cs typeface="Arial"/>
              </a:rPr>
              <a:t>MODEL AND INTERFACE</a:t>
            </a:r>
          </a:p>
        </p:txBody>
      </p:sp>
      <p:sp>
        <p:nvSpPr>
          <p:cNvPr id="45" name="">
            <a:extLst xmlns:a="http://schemas.openxmlformats.org/drawingml/2006/main">
              <a:ext uri="{FF2B5EF4-FFF2-40B4-BE49-F238E27FC236}">
                <a16:creationId xmlns:a16="http://schemas.microsoft.com/office/drawing/2014/main" id="{2FAFB3A1-A7F5-4214-8983-8A5EE5BADB5B}"/>
              </a:ext>
            </a:extLst>
          </p:cNvPr>
          <p:cNvSpPr>
            <a:spLocks xmlns:a="http://schemas.openxmlformats.org/drawingml/2006/main" noGrp="1"/>
          </p:cNvSpPr>
          <p:nvPr/>
        </p:nvSpPr>
        <p:spPr>
          <a:xfrm xmlns:a="http://schemas.openxmlformats.org/drawingml/2006/main">
            <a:off x="8229600" y="3981450"/>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3F7FA"/>
                </a:solidFill>
                <a:latin typeface="Arial"/>
                <a:ea typeface="Arial"/>
                <a:cs typeface="Arial"/>
              </a:defRPr>
            </a:defPPr>
          </a:lstStyle>
          <a:p xmlns:a="http://schemas.openxmlformats.org/drawingml/2006/main">
            <a:pPr algn="l">
              <a:defRPr sz="1200" b="0" i="0">
                <a:solidFill>
                  <a:srgbClr val="F3F7FA"/>
                </a:solidFill>
                <a:latin typeface="Arial"/>
                <a:ea typeface="Arial"/>
                <a:cs typeface="Arial"/>
              </a:defRPr>
            </a:pPr>
            <a:r>
              <a:rPr sz="1200" b="0" i="0">
                <a:solidFill>
                  <a:srgbClr val="F3F7FA"/>
                </a:solidFill>
                <a:latin typeface="Arial"/>
                <a:ea typeface="Arial"/>
                <a:cs typeface="Arial"/>
              </a:rPr>
              <a:t>CALCE-trained XGBoost estimates average temperature 10 minutes ahead. Advisory only, not validated on this pack.</a:t>
            </a:r>
          </a:p>
        </p:txBody>
      </p:sp>
      <p:sp>
        <p:nvSpPr>
          <p:cNvPr id="46" name="">
            <a:extLst xmlns:a="http://schemas.openxmlformats.org/drawingml/2006/main">
              <a:ext uri="{FF2B5EF4-FFF2-40B4-BE49-F238E27FC236}">
                <a16:creationId xmlns:a16="http://schemas.microsoft.com/office/drawing/2014/main" id="{860045D8-3AD5-41DF-89EE-33E15B517CDE}"/>
              </a:ext>
            </a:extLst>
          </p:cNvPr>
          <p:cNvSpPr>
            <a:spLocks xmlns:a="http://schemas.openxmlformats.org/drawingml/2006/main" noGrp="1"/>
          </p:cNvSpPr>
          <p:nvPr/>
        </p:nvSpPr>
        <p:spPr>
          <a:xfrm xmlns:a="http://schemas.openxmlformats.org/drawingml/2006/main">
            <a:off x="571500" y="4962525"/>
            <a:ext cx="11049000" cy="1381125"/>
          </a:xfrm>
          <a:prstGeom xmlns:a="http://schemas.openxmlformats.org/drawingml/2006/main" prst="roundRect">
            <a:avLst>
              <a:gd name="adj" fmla="val 11034"/>
            </a:avLst>
          </a:prstGeom>
          <a:solidFill xmlns:a="http://schemas.openxmlformats.org/drawingml/2006/main">
            <a:srgbClr val="0B1B28"/>
          </a:solidFill>
          <a:ln xmlns:a="http://schemas.openxmlformats.org/drawingml/2006/main" w="11430">
            <a:solidFill>
              <a:srgbClr val="243C4C"/>
            </a:solidFill>
            <a:prstDash val="solid"/>
          </a:ln>
        </p:spPr>
      </p:sp>
      <p:sp>
        <p:nvSpPr>
          <p:cNvPr id="47" name="">
            <a:extLst xmlns:a="http://schemas.openxmlformats.org/drawingml/2006/main">
              <a:ext uri="{FF2B5EF4-FFF2-40B4-BE49-F238E27FC236}">
                <a16:creationId xmlns:a16="http://schemas.microsoft.com/office/drawing/2014/main" id="{3C00AC57-65EF-4EB1-AD59-02E03EE36C7C}"/>
              </a:ext>
            </a:extLst>
          </p:cNvPr>
          <p:cNvSpPr>
            <a:spLocks xmlns:a="http://schemas.openxmlformats.org/drawingml/2006/main" noGrp="1"/>
          </p:cNvSpPr>
          <p:nvPr/>
        </p:nvSpPr>
        <p:spPr>
          <a:xfrm xmlns:a="http://schemas.openxmlformats.org/drawingml/2006/main">
            <a:off x="762000" y="5124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A8BAC6"/>
                </a:solidFill>
                <a:latin typeface="Arial"/>
                <a:ea typeface="Arial"/>
                <a:cs typeface="Arial"/>
              </a:defRPr>
            </a:defPPr>
          </a:lstStyle>
          <a:p xmlns:a="http://schemas.openxmlformats.org/drawingml/2006/main">
            <a:pPr algn="l">
              <a:defRPr sz="975" b="1" i="0">
                <a:solidFill>
                  <a:srgbClr val="A8BAC6"/>
                </a:solidFill>
                <a:latin typeface="Arial"/>
                <a:ea typeface="Arial"/>
                <a:cs typeface="Arial"/>
              </a:defRPr>
            </a:pPr>
            <a:r>
              <a:rPr sz="975" b="1" i="0">
                <a:solidFill>
                  <a:srgbClr val="A8BAC6"/>
                </a:solidFill>
                <a:latin typeface="Arial"/>
                <a:ea typeface="Arial"/>
                <a:cs typeface="Arial"/>
              </a:rPr>
              <a:t>IMPLEMENTATION STATUS</a:t>
            </a:r>
          </a:p>
        </p:txBody>
      </p:sp>
      <p:sp>
        <p:nvSpPr>
          <p:cNvPr id="48" name="">
            <a:extLst xmlns:a="http://schemas.openxmlformats.org/drawingml/2006/main">
              <a:ext uri="{FF2B5EF4-FFF2-40B4-BE49-F238E27FC236}">
                <a16:creationId xmlns:a16="http://schemas.microsoft.com/office/drawing/2014/main" id="{C6D8499D-36FE-4090-8E0C-596BE2288C31}"/>
              </a:ext>
            </a:extLst>
          </p:cNvPr>
          <p:cNvSpPr>
            <a:spLocks xmlns:a="http://schemas.openxmlformats.org/drawingml/2006/main" noGrp="1"/>
          </p:cNvSpPr>
          <p:nvPr/>
        </p:nvSpPr>
        <p:spPr>
          <a:xfrm xmlns:a="http://schemas.openxmlformats.org/drawingml/2006/main">
            <a:off x="762000" y="5429250"/>
            <a:ext cx="2571750" cy="257175"/>
          </a:xfrm>
          <a:prstGeom xmlns:a="http://schemas.openxmlformats.org/drawingml/2006/main" prst="roundRect">
            <a:avLst>
              <a:gd name="adj" fmla="val 48148"/>
            </a:avLst>
          </a:prstGeom>
          <a:solidFill xmlns:a="http://schemas.openxmlformats.org/drawingml/2006/main">
            <a:srgbClr val="10291F"/>
          </a:solidFill>
          <a:ln xmlns:a="http://schemas.openxmlformats.org/drawingml/2006/main" w="11430">
            <a:solidFill>
              <a:srgbClr val="4DD4AA"/>
            </a:solidFill>
            <a:prstDash val="solid"/>
          </a:ln>
        </p:spPr>
      </p:sp>
      <p:sp>
        <p:nvSpPr>
          <p:cNvPr id="49" name="">
            <a:extLst xmlns:a="http://schemas.openxmlformats.org/drawingml/2006/main">
              <a:ext uri="{FF2B5EF4-FFF2-40B4-BE49-F238E27FC236}">
                <a16:creationId xmlns:a16="http://schemas.microsoft.com/office/drawing/2014/main" id="{3DB05065-D0FD-4FD3-A58F-229D6DBD08B7}"/>
              </a:ext>
            </a:extLst>
          </p:cNvPr>
          <p:cNvSpPr>
            <a:spLocks xmlns:a="http://schemas.openxmlformats.org/drawingml/2006/main" noGrp="1"/>
          </p:cNvSpPr>
          <p:nvPr/>
        </p:nvSpPr>
        <p:spPr>
          <a:xfrm xmlns:a="http://schemas.openxmlformats.org/drawingml/2006/main">
            <a:off x="838200" y="5486400"/>
            <a:ext cx="24193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4DD4AA"/>
                </a:solidFill>
                <a:latin typeface="Arial"/>
                <a:ea typeface="Arial"/>
                <a:cs typeface="Arial"/>
              </a:defRPr>
            </a:defPPr>
          </a:lstStyle>
          <a:p xmlns:a="http://schemas.openxmlformats.org/drawingml/2006/main">
            <a:pPr algn="ctr">
              <a:defRPr sz="900" b="1" i="0">
                <a:solidFill>
                  <a:srgbClr val="4DD4AA"/>
                </a:solidFill>
                <a:latin typeface="Arial"/>
                <a:ea typeface="Arial"/>
                <a:cs typeface="Arial"/>
              </a:defRPr>
            </a:pPr>
            <a:r>
              <a:rPr sz="900" b="1" i="0">
                <a:solidFill>
                  <a:srgbClr val="4DD4AA"/>
                </a:solidFill>
                <a:latin typeface="Arial"/>
                <a:ea typeface="Arial"/>
                <a:cs typeface="Arial"/>
              </a:rPr>
              <a:t>SOFTWARE FOUNDATION / IMPLEMENTED</a:t>
            </a:r>
          </a:p>
        </p:txBody>
      </p:sp>
      <p:sp>
        <p:nvSpPr>
          <p:cNvPr id="50" name="">
            <a:extLst xmlns:a="http://schemas.openxmlformats.org/drawingml/2006/main">
              <a:ext uri="{FF2B5EF4-FFF2-40B4-BE49-F238E27FC236}">
                <a16:creationId xmlns:a16="http://schemas.microsoft.com/office/drawing/2014/main" id="{BC415C3E-BD88-47FF-9CCE-219F3CAD3441}"/>
              </a:ext>
            </a:extLst>
          </p:cNvPr>
          <p:cNvSpPr>
            <a:spLocks xmlns:a="http://schemas.openxmlformats.org/drawingml/2006/main" noGrp="1"/>
          </p:cNvSpPr>
          <p:nvPr/>
        </p:nvSpPr>
        <p:spPr>
          <a:xfrm xmlns:a="http://schemas.openxmlformats.org/drawingml/2006/main">
            <a:off x="762000" y="5791200"/>
            <a:ext cx="2571750" cy="257175"/>
          </a:xfrm>
          <a:prstGeom xmlns:a="http://schemas.openxmlformats.org/drawingml/2006/main" prst="roundRect">
            <a:avLst>
              <a:gd name="adj" fmla="val 48148"/>
            </a:avLst>
          </a:prstGeom>
          <a:solidFill xmlns:a="http://schemas.openxmlformats.org/drawingml/2006/main">
            <a:srgbClr val="30251A"/>
          </a:solidFill>
          <a:ln xmlns:a="http://schemas.openxmlformats.org/drawingml/2006/main" w="11430">
            <a:solidFill>
              <a:srgbClr val="F2B76B"/>
            </a:solidFill>
            <a:prstDash val="solid"/>
          </a:ln>
        </p:spPr>
      </p:sp>
      <p:sp>
        <p:nvSpPr>
          <p:cNvPr id="51" name="">
            <a:extLst xmlns:a="http://schemas.openxmlformats.org/drawingml/2006/main">
              <a:ext uri="{FF2B5EF4-FFF2-40B4-BE49-F238E27FC236}">
                <a16:creationId xmlns:a16="http://schemas.microsoft.com/office/drawing/2014/main" id="{9C858A86-DD7A-4463-8499-41B9131584A4}"/>
              </a:ext>
            </a:extLst>
          </p:cNvPr>
          <p:cNvSpPr>
            <a:spLocks xmlns:a="http://schemas.openxmlformats.org/drawingml/2006/main" noGrp="1"/>
          </p:cNvSpPr>
          <p:nvPr/>
        </p:nvSpPr>
        <p:spPr>
          <a:xfrm xmlns:a="http://schemas.openxmlformats.org/drawingml/2006/main">
            <a:off x="838200" y="5848350"/>
            <a:ext cx="24193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2B76B"/>
                </a:solidFill>
                <a:latin typeface="Arial"/>
                <a:ea typeface="Arial"/>
                <a:cs typeface="Arial"/>
              </a:defRPr>
            </a:defPPr>
          </a:lstStyle>
          <a:p xmlns:a="http://schemas.openxmlformats.org/drawingml/2006/main">
            <a:pPr algn="ctr">
              <a:defRPr sz="900" b="1" i="0">
                <a:solidFill>
                  <a:srgbClr val="F2B76B"/>
                </a:solidFill>
                <a:latin typeface="Arial"/>
                <a:ea typeface="Arial"/>
                <a:cs typeface="Arial"/>
              </a:defRPr>
            </a:pPr>
            <a:r>
              <a:rPr sz="900" b="1" i="0">
                <a:solidFill>
                  <a:srgbClr val="F2B76B"/>
                </a:solidFill>
                <a:latin typeface="Arial"/>
                <a:ea typeface="Arial"/>
                <a:cs typeface="Arial"/>
              </a:rPr>
              <a:t>PHYSICAL SENSOR FEED / PENDING</a:t>
            </a:r>
          </a:p>
        </p:txBody>
      </p:sp>
      <p:sp>
        <p:nvSpPr>
          <p:cNvPr id="52" name="">
            <a:extLst xmlns:a="http://schemas.openxmlformats.org/drawingml/2006/main">
              <a:ext uri="{FF2B5EF4-FFF2-40B4-BE49-F238E27FC236}">
                <a16:creationId xmlns:a16="http://schemas.microsoft.com/office/drawing/2014/main" id="{0EB69321-2D26-44E7-B660-6B800DAEEFFD}"/>
              </a:ext>
            </a:extLst>
          </p:cNvPr>
          <p:cNvSpPr>
            <a:spLocks xmlns:a="http://schemas.openxmlformats.org/drawingml/2006/main" noGrp="1"/>
          </p:cNvSpPr>
          <p:nvPr/>
        </p:nvSpPr>
        <p:spPr>
          <a:xfrm xmlns:a="http://schemas.openxmlformats.org/drawingml/2006/main">
            <a:off x="3714750" y="5153025"/>
            <a:ext cx="1905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F2B76B"/>
                </a:solidFill>
                <a:latin typeface="Arial"/>
                <a:ea typeface="Arial"/>
                <a:cs typeface="Arial"/>
              </a:defRPr>
            </a:defPPr>
          </a:lstStyle>
          <a:p xmlns:a="http://schemas.openxmlformats.org/drawingml/2006/main">
            <a:pPr algn="l">
              <a:defRPr sz="1200" b="1" i="0">
                <a:solidFill>
                  <a:srgbClr val="F2B76B"/>
                </a:solidFill>
                <a:latin typeface="Arial"/>
                <a:ea typeface="Arial"/>
                <a:cs typeface="Arial"/>
              </a:defRPr>
            </a:pPr>
            <a:r>
              <a:rPr sz="1200" b="1" i="0">
                <a:solidFill>
                  <a:srgbClr val="F2B76B"/>
                </a:solidFill>
                <a:latin typeface="Arial"/>
                <a:ea typeface="Arial"/>
                <a:cs typeface="Arial"/>
              </a:rPr>
              <a:t>Safety boundary</a:t>
            </a:r>
          </a:p>
        </p:txBody>
      </p:sp>
      <p:sp>
        <p:nvSpPr>
          <p:cNvPr id="53" name="">
            <a:extLst xmlns:a="http://schemas.openxmlformats.org/drawingml/2006/main">
              <a:ext uri="{FF2B5EF4-FFF2-40B4-BE49-F238E27FC236}">
                <a16:creationId xmlns:a16="http://schemas.microsoft.com/office/drawing/2014/main" id="{3703D094-C35A-4DC9-B62B-6ACD4B6CE451}"/>
              </a:ext>
            </a:extLst>
          </p:cNvPr>
          <p:cNvSpPr>
            <a:spLocks xmlns:a="http://schemas.openxmlformats.org/drawingml/2006/main" noGrp="1"/>
          </p:cNvSpPr>
          <p:nvPr/>
        </p:nvSpPr>
        <p:spPr>
          <a:xfrm xmlns:a="http://schemas.openxmlformats.org/drawingml/2006/main">
            <a:off x="3714750" y="5448300"/>
            <a:ext cx="762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The 55°C threshold is an inherited demo default, not a validated cell limit. Fan output is a display indicator. No automatic shutdown, cell balancing or certified protection is implemented. The physical BMS remains authoritative.</a:t>
            </a:r>
          </a:p>
        </p:txBody>
      </p:sp>
    </p:spTree>
    <p:extLst>
      <p:ext uri="{BB962C8B-B14F-4D97-AF65-F5344CB8AC3E}">
        <p14:creationId xmlns:p14="http://schemas.microsoft.com/office/powerpoint/2010/main" val="2117120627"/>
      </p:ext>
    </p:extLst>
  </p:cSld>
</p:sld>
</file>

<file path=ppt/slides/slide3.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210B35C-7563-4CDB-A76A-FB13CE98AA2C}"/>
              </a:ext>
            </a:extLst>
          </p:cNvPr>
          <p:cNvSpPr>
            <a:spLocks xmlns:a="http://schemas.openxmlformats.org/drawingml/2006/main" noGrp="1"/>
          </p:cNvSpPr>
          <p:nvPr/>
        </p:nvSpPr>
        <p:spPr>
          <a:xfrm xmlns:a="http://schemas.openxmlformats.org/drawingml/2006/main">
            <a:off x="571500" y="2571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REAL-LIFE APPLICATION</a:t>
            </a:r>
          </a:p>
        </p:txBody>
      </p:sp>
      <p:sp>
        <p:nvSpPr>
          <p:cNvPr id="2" name="">
            <a:extLst xmlns:a="http://schemas.openxmlformats.org/drawingml/2006/main">
              <a:ext uri="{FF2B5EF4-FFF2-40B4-BE49-F238E27FC236}">
                <a16:creationId xmlns:a16="http://schemas.microsoft.com/office/drawing/2014/main" id="{FEBF9057-AFE7-42A8-A0AC-5EA4FCB07F64}"/>
              </a:ext>
            </a:extLst>
          </p:cNvPr>
          <p:cNvSpPr>
            <a:spLocks xmlns:a="http://schemas.openxmlformats.org/drawingml/2006/main" noGrp="1"/>
          </p:cNvSpPr>
          <p:nvPr/>
        </p:nvSpPr>
        <p:spPr>
          <a:xfrm xmlns:a="http://schemas.openxmlformats.org/drawingml/2006/main">
            <a:off x="571500" y="523875"/>
            <a:ext cx="457200" cy="28575"/>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E47527E-8AD2-442A-A0B9-D7C7C85113D0}"/>
              </a:ext>
            </a:extLst>
          </p:cNvPr>
          <p:cNvSpPr>
            <a:spLocks xmlns:a="http://schemas.openxmlformats.org/drawingml/2006/main" noGrp="1"/>
          </p:cNvSpPr>
          <p:nvPr/>
        </p:nvSpPr>
        <p:spPr>
          <a:xfrm xmlns:a="http://schemas.openxmlformats.org/drawingml/2006/main">
            <a:off x="10829925" y="266700"/>
            <a:ext cx="790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A8BAC6"/>
                </a:solidFill>
                <a:latin typeface="Arial"/>
                <a:ea typeface="Arial"/>
                <a:cs typeface="Arial"/>
              </a:defRPr>
            </a:defPPr>
          </a:lstStyle>
          <a:p xmlns:a="http://schemas.openxmlformats.org/drawingml/2006/main">
            <a:pPr algn="r">
              <a:defRPr sz="975" b="1" i="0">
                <a:solidFill>
                  <a:srgbClr val="A8BAC6"/>
                </a:solidFill>
                <a:latin typeface="Arial"/>
                <a:ea typeface="Arial"/>
                <a:cs typeface="Arial"/>
              </a:defRPr>
            </a:pPr>
            <a:r>
              <a:rPr sz="975" b="1" i="0">
                <a:solidFill>
                  <a:srgbClr val="A8BAC6"/>
                </a:solidFill>
                <a:latin typeface="Arial"/>
                <a:ea typeface="Arial"/>
                <a:cs typeface="Arial"/>
              </a:rPr>
              <a:t>03 / 04</a:t>
            </a:r>
          </a:p>
        </p:txBody>
      </p:sp>
      <p:sp>
        <p:nvSpPr>
          <p:cNvPr id="4" name="">
            <a:extLst xmlns:a="http://schemas.openxmlformats.org/drawingml/2006/main">
              <a:ext uri="{FF2B5EF4-FFF2-40B4-BE49-F238E27FC236}">
                <a16:creationId xmlns:a16="http://schemas.microsoft.com/office/drawing/2014/main" id="{2D882545-923C-4F74-93F6-14B2A5FC5918}"/>
              </a:ext>
            </a:extLst>
          </p:cNvPr>
          <p:cNvSpPr>
            <a:spLocks xmlns:a="http://schemas.openxmlformats.org/drawingml/2006/main" noGrp="1"/>
          </p:cNvSpPr>
          <p:nvPr/>
        </p:nvSpPr>
        <p:spPr>
          <a:xfrm xmlns:a="http://schemas.openxmlformats.org/drawingml/2006/main">
            <a:off x="571500" y="6477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i="0">
                <a:solidFill>
                  <a:srgbClr val="F3F7FA"/>
                </a:solidFill>
                <a:latin typeface="Arial"/>
                <a:ea typeface="Arial"/>
                <a:cs typeface="Arial"/>
              </a:defRPr>
            </a:defPPr>
          </a:lstStyle>
          <a:p xmlns:a="http://schemas.openxmlformats.org/drawingml/2006/main">
            <a:pPr algn="l">
              <a:defRPr sz="2700" b="1" i="0">
                <a:solidFill>
                  <a:srgbClr val="F3F7FA"/>
                </a:solidFill>
                <a:latin typeface="Arial"/>
                <a:ea typeface="Arial"/>
                <a:cs typeface="Arial"/>
              </a:defRPr>
            </a:pPr>
            <a:r>
              <a:rPr sz="2700" b="1" i="0">
                <a:solidFill>
                  <a:srgbClr val="F3F7FA"/>
                </a:solidFill>
                <a:latin typeface="Arial"/>
                <a:ea typeface="Arial"/>
                <a:cs typeface="Arial"/>
              </a:rPr>
              <a:t>REAL-WORLD APPLICATION &amp; SCALABILITY</a:t>
            </a:r>
          </a:p>
        </p:txBody>
      </p:sp>
      <p:sp>
        <p:nvSpPr>
          <p:cNvPr id="5" name="">
            <a:extLst xmlns:a="http://schemas.openxmlformats.org/drawingml/2006/main">
              <a:ext uri="{FF2B5EF4-FFF2-40B4-BE49-F238E27FC236}">
                <a16:creationId xmlns:a16="http://schemas.microsoft.com/office/drawing/2014/main" id="{7C89BB94-C76C-4FA9-B5BE-D39E26CE8DAC}"/>
              </a:ext>
            </a:extLst>
          </p:cNvPr>
          <p:cNvSpPr>
            <a:spLocks xmlns:a="http://schemas.openxmlformats.org/drawingml/2006/main" noGrp="1"/>
          </p:cNvSpPr>
          <p:nvPr/>
        </p:nvSpPr>
        <p:spPr>
          <a:xfrm xmlns:a="http://schemas.openxmlformats.org/drawingml/2006/main">
            <a:off x="590550" y="11430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A8BAC6"/>
                </a:solidFill>
                <a:latin typeface="Arial"/>
                <a:ea typeface="Arial"/>
                <a:cs typeface="Arial"/>
              </a:defRPr>
            </a:defPPr>
          </a:lstStyle>
          <a:p xmlns:a="http://schemas.openxmlformats.org/drawingml/2006/main">
            <a:pPr algn="l">
              <a:defRPr sz="1350" b="0" i="0">
                <a:solidFill>
                  <a:srgbClr val="A8BAC6"/>
                </a:solidFill>
                <a:latin typeface="Arial"/>
                <a:ea typeface="Arial"/>
                <a:cs typeface="Arial"/>
              </a:defRPr>
            </a:pPr>
            <a:r>
              <a:rPr sz="1350" b="0" i="0">
                <a:solidFill>
                  <a:srgbClr val="A8BAC6"/>
                </a:solidFill>
                <a:latin typeface="Arial"/>
                <a:ea typeface="Arial"/>
                <a:cs typeface="Arial"/>
              </a:rPr>
              <a:t>Potential contexts after hardware integration and measurement validation</a:t>
            </a:r>
          </a:p>
        </p:txBody>
      </p:sp>
      <p:pic>
        <p:nvPicPr>
          <p:cNvPr id="6" name="">
            <a:extLst xmlns:a="http://schemas.openxmlformats.org/drawingml/2006/main">
              <a:ext uri="{FF2B5EF4-FFF2-40B4-BE49-F238E27FC236}">
                <a16:creationId xmlns:a16="http://schemas.microsoft.com/office/drawing/2014/main" id="{CDBAB766-C559-44DE-BD42-3B922D149C08}"/>
              </a:ext>
            </a:extLst>
          </p:cNvPr>
          <p:cNvPicPr>
            <a:picLocks xmlns:a="http://schemas.openxmlformats.org/drawingml/2006/main" noChangeAspect="1"/>
          </p:cNvPicPr>
          <p:nvPr/>
        </p:nvPicPr>
        <p:blipFill>
          <a:blip xmlns:r="http://schemas.openxmlformats.org/officeDocument/2006/relationships" xmlns:a="http://schemas.openxmlformats.org/drawingml/2006/main" r:embed="R671983164f2948d4"/>
          <a:stretch xmlns:a="http://schemas.openxmlformats.org/drawingml/2006/main"/>
        </p:blipFill>
        <p:spPr>
          <a:xfrm xmlns:a="http://schemas.openxmlformats.org/drawingml/2006/main">
            <a:off x="571500" y="1543050"/>
            <a:ext cx="5410200" cy="3600450"/>
          </a:xfrm>
          <a:prstGeom xmlns:a="http://schemas.openxmlformats.org/drawingml/2006/main" prst="roundRect">
            <a:avLst>
              <a:gd name="adj" fmla="val 4762"/>
            </a:avLst>
          </a:prstGeom>
        </p:spPr>
      </p:pic>
      <p:sp>
        <p:nvSpPr>
          <p:cNvPr id="7" name="">
            <a:extLst xmlns:a="http://schemas.openxmlformats.org/drawingml/2006/main">
              <a:ext uri="{FF2B5EF4-FFF2-40B4-BE49-F238E27FC236}">
                <a16:creationId xmlns:a16="http://schemas.microsoft.com/office/drawing/2014/main" id="{5878382D-934F-477C-BB18-3FD2824BB94E}"/>
              </a:ext>
            </a:extLst>
          </p:cNvPr>
          <p:cNvSpPr>
            <a:spLocks xmlns:a="http://schemas.openxmlformats.org/drawingml/2006/main" noGrp="1"/>
          </p:cNvSpPr>
          <p:nvPr/>
        </p:nvSpPr>
        <p:spPr>
          <a:xfrm xmlns:a="http://schemas.openxmlformats.org/drawingml/2006/main">
            <a:off x="590550" y="5200650"/>
            <a:ext cx="5381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6E8595"/>
                </a:solidFill>
                <a:latin typeface="Arial"/>
                <a:ea typeface="Arial"/>
                <a:cs typeface="Arial"/>
              </a:defRPr>
            </a:defPPr>
          </a:lstStyle>
          <a:p xmlns:a="http://schemas.openxmlformats.org/drawingml/2006/main">
            <a:pPr algn="ctr">
              <a:defRPr sz="900" b="1" i="0">
                <a:solidFill>
                  <a:srgbClr val="6E8595"/>
                </a:solidFill>
                <a:latin typeface="Arial"/>
                <a:ea typeface="Arial"/>
                <a:cs typeface="Arial"/>
              </a:defRPr>
            </a:pPr>
            <a:r>
              <a:rPr sz="900" b="1" i="0">
                <a:solidFill>
                  <a:srgbClr val="6E8595"/>
                </a:solidFill>
                <a:latin typeface="Arial"/>
                <a:ea typeface="Arial"/>
                <a:cs typeface="Arial"/>
              </a:rPr>
              <a:t>POTENTIAL USE CONTEXTS / CONCEPT ART</a:t>
            </a:r>
          </a:p>
        </p:txBody>
      </p:sp>
      <p:sp>
        <p:nvSpPr>
          <p:cNvPr id="8" name="">
            <a:extLst xmlns:a="http://schemas.openxmlformats.org/drawingml/2006/main">
              <a:ext uri="{FF2B5EF4-FFF2-40B4-BE49-F238E27FC236}">
                <a16:creationId xmlns:a16="http://schemas.microsoft.com/office/drawing/2014/main" id="{19AD135B-A1FA-46E6-AA8B-820EB2AF9DF0}"/>
              </a:ext>
            </a:extLst>
          </p:cNvPr>
          <p:cNvSpPr>
            <a:spLocks xmlns:a="http://schemas.openxmlformats.org/drawingml/2006/main" noGrp="1"/>
          </p:cNvSpPr>
          <p:nvPr/>
        </p:nvSpPr>
        <p:spPr>
          <a:xfrm xmlns:a="http://schemas.openxmlformats.org/drawingml/2006/main">
            <a:off x="6353175" y="1514475"/>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APPLICATION AREAS</a:t>
            </a:r>
          </a:p>
        </p:txBody>
      </p:sp>
      <p:sp>
        <p:nvSpPr>
          <p:cNvPr id="9" name="">
            <a:extLst xmlns:a="http://schemas.openxmlformats.org/drawingml/2006/main">
              <a:ext uri="{FF2B5EF4-FFF2-40B4-BE49-F238E27FC236}">
                <a16:creationId xmlns:a16="http://schemas.microsoft.com/office/drawing/2014/main" id="{1F5639BE-5BD1-43EF-9B2A-2D5B38882E85}"/>
              </a:ext>
            </a:extLst>
          </p:cNvPr>
          <p:cNvSpPr>
            <a:spLocks xmlns:a="http://schemas.openxmlformats.org/drawingml/2006/main" noGrp="1"/>
          </p:cNvSpPr>
          <p:nvPr/>
        </p:nvSpPr>
        <p:spPr>
          <a:xfrm xmlns:a="http://schemas.openxmlformats.org/drawingml/2006/main">
            <a:off x="6353175" y="1847850"/>
            <a:ext cx="76200" cy="476250"/>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F1DAC0-04E9-41F3-B49A-3B7CB65805C4}"/>
              </a:ext>
            </a:extLst>
          </p:cNvPr>
          <p:cNvSpPr>
            <a:spLocks xmlns:a="http://schemas.openxmlformats.org/drawingml/2006/main" noGrp="1"/>
          </p:cNvSpPr>
          <p:nvPr/>
        </p:nvSpPr>
        <p:spPr>
          <a:xfrm xmlns:a="http://schemas.openxmlformats.org/drawingml/2006/main">
            <a:off x="6591300" y="1847850"/>
            <a:ext cx="4905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3F7FA"/>
                </a:solidFill>
                <a:latin typeface="Arial"/>
                <a:ea typeface="Arial"/>
                <a:cs typeface="Arial"/>
              </a:defRPr>
            </a:defPPr>
          </a:lstStyle>
          <a:p xmlns:a="http://schemas.openxmlformats.org/drawingml/2006/main">
            <a:pPr algn="l">
              <a:defRPr sz="1050" b="1" i="0">
                <a:solidFill>
                  <a:srgbClr val="F3F7FA"/>
                </a:solidFill>
                <a:latin typeface="Arial"/>
                <a:ea typeface="Arial"/>
                <a:cs typeface="Arial"/>
              </a:defRPr>
            </a:pPr>
            <a:r>
              <a:rPr sz="1050" b="1" i="0">
                <a:solidFill>
                  <a:srgbClr val="F3F7FA"/>
                </a:solidFill>
                <a:latin typeface="Arial"/>
                <a:ea typeface="Arial"/>
                <a:cs typeface="Arial"/>
              </a:rPr>
              <a:t>EV AND ELECTRIC MOBILITY</a:t>
            </a:r>
          </a:p>
        </p:txBody>
      </p:sp>
      <p:sp>
        <p:nvSpPr>
          <p:cNvPr id="11" name="">
            <a:extLst xmlns:a="http://schemas.openxmlformats.org/drawingml/2006/main">
              <a:ext uri="{FF2B5EF4-FFF2-40B4-BE49-F238E27FC236}">
                <a16:creationId xmlns:a16="http://schemas.microsoft.com/office/drawing/2014/main" id="{E52F8DA1-0C8C-4F31-82B8-AF8D4F251E5D}"/>
              </a:ext>
            </a:extLst>
          </p:cNvPr>
          <p:cNvSpPr>
            <a:spLocks xmlns:a="http://schemas.openxmlformats.org/drawingml/2006/main" noGrp="1"/>
          </p:cNvSpPr>
          <p:nvPr/>
        </p:nvSpPr>
        <p:spPr>
          <a:xfrm xmlns:a="http://schemas.openxmlformats.org/drawingml/2006/main">
            <a:off x="6591300" y="2076450"/>
            <a:ext cx="490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A8BAC6"/>
                </a:solidFill>
                <a:latin typeface="Arial"/>
                <a:ea typeface="Arial"/>
                <a:cs typeface="Arial"/>
              </a:defRPr>
            </a:defPPr>
          </a:lstStyle>
          <a:p xmlns:a="http://schemas.openxmlformats.org/drawingml/2006/main">
            <a:pPr algn="l">
              <a:defRPr sz="1125" b="0" i="0">
                <a:solidFill>
                  <a:srgbClr val="A8BAC6"/>
                </a:solidFill>
                <a:latin typeface="Arial"/>
                <a:ea typeface="Arial"/>
                <a:cs typeface="Arial"/>
              </a:defRPr>
            </a:pPr>
            <a:r>
              <a:rPr sz="1125" b="0" i="0">
                <a:solidFill>
                  <a:srgbClr val="A8BAC6"/>
                </a:solidFill>
                <a:latin typeface="Arial"/>
                <a:ea typeface="Arial"/>
                <a:cs typeface="Arial"/>
              </a:rPr>
              <a:t>Review pack conditions during testing and maintenance.</a:t>
            </a:r>
          </a:p>
        </p:txBody>
      </p:sp>
      <p:sp>
        <p:nvSpPr>
          <p:cNvPr id="12" name="">
            <a:extLst xmlns:a="http://schemas.openxmlformats.org/drawingml/2006/main">
              <a:ext uri="{FF2B5EF4-FFF2-40B4-BE49-F238E27FC236}">
                <a16:creationId xmlns:a16="http://schemas.microsoft.com/office/drawing/2014/main" id="{4DAE40E6-F940-465C-95E2-DBE4162DDC7C}"/>
              </a:ext>
            </a:extLst>
          </p:cNvPr>
          <p:cNvSpPr>
            <a:spLocks xmlns:a="http://schemas.openxmlformats.org/drawingml/2006/main" noGrp="1"/>
          </p:cNvSpPr>
          <p:nvPr/>
        </p:nvSpPr>
        <p:spPr>
          <a:xfrm xmlns:a="http://schemas.openxmlformats.org/drawingml/2006/main">
            <a:off x="6353175" y="2495550"/>
            <a:ext cx="76200" cy="476250"/>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F64BCCC-EFB9-4F75-814A-B233DC0DF2F0}"/>
              </a:ext>
            </a:extLst>
          </p:cNvPr>
          <p:cNvSpPr>
            <a:spLocks xmlns:a="http://schemas.openxmlformats.org/drawingml/2006/main" noGrp="1"/>
          </p:cNvSpPr>
          <p:nvPr/>
        </p:nvSpPr>
        <p:spPr>
          <a:xfrm xmlns:a="http://schemas.openxmlformats.org/drawingml/2006/main">
            <a:off x="6591300" y="2495550"/>
            <a:ext cx="4905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3F7FA"/>
                </a:solidFill>
                <a:latin typeface="Arial"/>
                <a:ea typeface="Arial"/>
                <a:cs typeface="Arial"/>
              </a:defRPr>
            </a:defPPr>
          </a:lstStyle>
          <a:p xmlns:a="http://schemas.openxmlformats.org/drawingml/2006/main">
            <a:pPr algn="l">
              <a:defRPr sz="1050" b="1" i="0">
                <a:solidFill>
                  <a:srgbClr val="F3F7FA"/>
                </a:solidFill>
                <a:latin typeface="Arial"/>
                <a:ea typeface="Arial"/>
                <a:cs typeface="Arial"/>
              </a:defRPr>
            </a:pPr>
            <a:r>
              <a:rPr sz="1050" b="1" i="0">
                <a:solidFill>
                  <a:srgbClr val="F3F7FA"/>
                </a:solidFill>
                <a:latin typeface="Arial"/>
                <a:ea typeface="Arial"/>
                <a:cs typeface="Arial"/>
              </a:rPr>
              <a:t>STATIONARY STORAGE</a:t>
            </a:r>
          </a:p>
        </p:txBody>
      </p:sp>
      <p:sp>
        <p:nvSpPr>
          <p:cNvPr id="14" name="">
            <a:extLst xmlns:a="http://schemas.openxmlformats.org/drawingml/2006/main">
              <a:ext uri="{FF2B5EF4-FFF2-40B4-BE49-F238E27FC236}">
                <a16:creationId xmlns:a16="http://schemas.microsoft.com/office/drawing/2014/main" id="{CD74A838-FB88-40D2-8645-67F1EABF1C92}"/>
              </a:ext>
            </a:extLst>
          </p:cNvPr>
          <p:cNvSpPr>
            <a:spLocks xmlns:a="http://schemas.openxmlformats.org/drawingml/2006/main" noGrp="1"/>
          </p:cNvSpPr>
          <p:nvPr/>
        </p:nvSpPr>
        <p:spPr>
          <a:xfrm xmlns:a="http://schemas.openxmlformats.org/drawingml/2006/main">
            <a:off x="6591300" y="2724150"/>
            <a:ext cx="490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A8BAC6"/>
                </a:solidFill>
                <a:latin typeface="Arial"/>
                <a:ea typeface="Arial"/>
                <a:cs typeface="Arial"/>
              </a:defRPr>
            </a:defPPr>
          </a:lstStyle>
          <a:p xmlns:a="http://schemas.openxmlformats.org/drawingml/2006/main">
            <a:pPr algn="l">
              <a:defRPr sz="1125" b="0" i="0">
                <a:solidFill>
                  <a:srgbClr val="A8BAC6"/>
                </a:solidFill>
                <a:latin typeface="Arial"/>
                <a:ea typeface="Arial"/>
                <a:cs typeface="Arial"/>
              </a:defRPr>
            </a:pPr>
            <a:r>
              <a:rPr sz="1125" b="0" i="0">
                <a:solidFill>
                  <a:srgbClr val="A8BAC6"/>
                </a:solidFill>
                <a:latin typeface="Arial"/>
                <a:ea typeface="Arial"/>
                <a:cs typeface="Arial"/>
              </a:rPr>
              <a:t>Follow trends in storage and backup-power systems.</a:t>
            </a:r>
          </a:p>
        </p:txBody>
      </p:sp>
      <p:sp>
        <p:nvSpPr>
          <p:cNvPr id="15" name="">
            <a:extLst xmlns:a="http://schemas.openxmlformats.org/drawingml/2006/main">
              <a:ext uri="{FF2B5EF4-FFF2-40B4-BE49-F238E27FC236}">
                <a16:creationId xmlns:a16="http://schemas.microsoft.com/office/drawing/2014/main" id="{26056471-2FC1-4B04-A995-9D10BAD1A279}"/>
              </a:ext>
            </a:extLst>
          </p:cNvPr>
          <p:cNvSpPr>
            <a:spLocks xmlns:a="http://schemas.openxmlformats.org/drawingml/2006/main" noGrp="1"/>
          </p:cNvSpPr>
          <p:nvPr/>
        </p:nvSpPr>
        <p:spPr>
          <a:xfrm xmlns:a="http://schemas.openxmlformats.org/drawingml/2006/main">
            <a:off x="6353175" y="3143250"/>
            <a:ext cx="76200" cy="476250"/>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DC09519-2339-4522-BB78-D83793A58987}"/>
              </a:ext>
            </a:extLst>
          </p:cNvPr>
          <p:cNvSpPr>
            <a:spLocks xmlns:a="http://schemas.openxmlformats.org/drawingml/2006/main" noGrp="1"/>
          </p:cNvSpPr>
          <p:nvPr/>
        </p:nvSpPr>
        <p:spPr>
          <a:xfrm xmlns:a="http://schemas.openxmlformats.org/drawingml/2006/main">
            <a:off x="6591300" y="3143250"/>
            <a:ext cx="4905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3F7FA"/>
                </a:solidFill>
                <a:latin typeface="Arial"/>
                <a:ea typeface="Arial"/>
                <a:cs typeface="Arial"/>
              </a:defRPr>
            </a:defPPr>
          </a:lstStyle>
          <a:p xmlns:a="http://schemas.openxmlformats.org/drawingml/2006/main">
            <a:pPr algn="l">
              <a:defRPr sz="1050" b="1" i="0">
                <a:solidFill>
                  <a:srgbClr val="F3F7FA"/>
                </a:solidFill>
                <a:latin typeface="Arial"/>
                <a:ea typeface="Arial"/>
                <a:cs typeface="Arial"/>
              </a:defRPr>
            </a:pPr>
            <a:r>
              <a:rPr sz="1050" b="1" i="0">
                <a:solidFill>
                  <a:srgbClr val="F3F7FA"/>
                </a:solidFill>
                <a:latin typeface="Arial"/>
                <a:ea typeface="Arial"/>
                <a:cs typeface="Arial"/>
              </a:rPr>
              <a:t>INDUSTRIAL BATTERY BANKS</a:t>
            </a:r>
          </a:p>
        </p:txBody>
      </p:sp>
      <p:sp>
        <p:nvSpPr>
          <p:cNvPr id="17" name="">
            <a:extLst xmlns:a="http://schemas.openxmlformats.org/drawingml/2006/main">
              <a:ext uri="{FF2B5EF4-FFF2-40B4-BE49-F238E27FC236}">
                <a16:creationId xmlns:a16="http://schemas.microsoft.com/office/drawing/2014/main" id="{663CADEC-8059-42CA-8D01-F266E7A92139}"/>
              </a:ext>
            </a:extLst>
          </p:cNvPr>
          <p:cNvSpPr>
            <a:spLocks xmlns:a="http://schemas.openxmlformats.org/drawingml/2006/main" noGrp="1"/>
          </p:cNvSpPr>
          <p:nvPr/>
        </p:nvSpPr>
        <p:spPr>
          <a:xfrm xmlns:a="http://schemas.openxmlformats.org/drawingml/2006/main">
            <a:off x="6591300" y="3371850"/>
            <a:ext cx="490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A8BAC6"/>
                </a:solidFill>
                <a:latin typeface="Arial"/>
                <a:ea typeface="Arial"/>
                <a:cs typeface="Arial"/>
              </a:defRPr>
            </a:defPPr>
          </a:lstStyle>
          <a:p xmlns:a="http://schemas.openxmlformats.org/drawingml/2006/main">
            <a:pPr algn="l">
              <a:defRPr sz="1125" b="0" i="0">
                <a:solidFill>
                  <a:srgbClr val="A8BAC6"/>
                </a:solidFill>
                <a:latin typeface="Arial"/>
                <a:ea typeface="Arial"/>
                <a:cs typeface="Arial"/>
              </a:defRPr>
            </a:pPr>
            <a:r>
              <a:rPr sz="1125" b="0" i="0">
                <a:solidFill>
                  <a:srgbClr val="A8BAC6"/>
                </a:solidFill>
                <a:latin typeface="Arial"/>
                <a:ea typeface="Arial"/>
                <a:cs typeface="Arial"/>
              </a:rPr>
              <a:t>Support bench checks and maintenance workflows.</a:t>
            </a:r>
          </a:p>
        </p:txBody>
      </p:sp>
      <p:sp>
        <p:nvSpPr>
          <p:cNvPr id="18" name="">
            <a:extLst xmlns:a="http://schemas.openxmlformats.org/drawingml/2006/main">
              <a:ext uri="{FF2B5EF4-FFF2-40B4-BE49-F238E27FC236}">
                <a16:creationId xmlns:a16="http://schemas.microsoft.com/office/drawing/2014/main" id="{A0F140A1-7A5A-4238-AB8F-F9EEB6A215AC}"/>
              </a:ext>
            </a:extLst>
          </p:cNvPr>
          <p:cNvSpPr>
            <a:spLocks xmlns:a="http://schemas.openxmlformats.org/drawingml/2006/main" noGrp="1"/>
          </p:cNvSpPr>
          <p:nvPr/>
        </p:nvSpPr>
        <p:spPr>
          <a:xfrm xmlns:a="http://schemas.openxmlformats.org/drawingml/2006/main">
            <a:off x="6353175" y="3829050"/>
            <a:ext cx="5219700" cy="1381125"/>
          </a:xfrm>
          <a:prstGeom xmlns:a="http://schemas.openxmlformats.org/drawingml/2006/main" prst="roundRect">
            <a:avLst>
              <a:gd name="adj" fmla="val 9655"/>
            </a:avLst>
          </a:prstGeom>
          <a:solidFill xmlns:a="http://schemas.openxmlformats.org/drawingml/2006/main">
            <a:srgbClr val="102230"/>
          </a:solidFill>
          <a:ln xmlns:a="http://schemas.openxmlformats.org/drawingml/2006/main" w="11430">
            <a:solidFill>
              <a:srgbClr val="294353"/>
            </a:solidFill>
            <a:prstDash val="solid"/>
          </a:ln>
        </p:spPr>
      </p:sp>
      <p:sp>
        <p:nvSpPr>
          <p:cNvPr id="19" name="">
            <a:extLst xmlns:a="http://schemas.openxmlformats.org/drawingml/2006/main">
              <a:ext uri="{FF2B5EF4-FFF2-40B4-BE49-F238E27FC236}">
                <a16:creationId xmlns:a16="http://schemas.microsoft.com/office/drawing/2014/main" id="{5599377B-031F-49DA-8D11-E8F9691931CD}"/>
              </a:ext>
            </a:extLst>
          </p:cNvPr>
          <p:cNvSpPr>
            <a:spLocks xmlns:a="http://schemas.openxmlformats.org/drawingml/2006/main" noGrp="1"/>
          </p:cNvSpPr>
          <p:nvPr/>
        </p:nvSpPr>
        <p:spPr>
          <a:xfrm xmlns:a="http://schemas.openxmlformats.org/drawingml/2006/main">
            <a:off x="6524625" y="3981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4DD4AA"/>
                </a:solidFill>
                <a:latin typeface="Arial"/>
                <a:ea typeface="Arial"/>
                <a:cs typeface="Arial"/>
              </a:defRPr>
            </a:defPPr>
          </a:lstStyle>
          <a:p xmlns:a="http://schemas.openxmlformats.org/drawingml/2006/main">
            <a:pPr algn="l">
              <a:defRPr sz="975" b="1" i="0">
                <a:solidFill>
                  <a:srgbClr val="4DD4AA"/>
                </a:solidFill>
                <a:latin typeface="Arial"/>
                <a:ea typeface="Arial"/>
                <a:cs typeface="Arial"/>
              </a:defRPr>
            </a:pPr>
            <a:r>
              <a:rPr sz="975" b="1" i="0">
                <a:solidFill>
                  <a:srgbClr val="4DD4AA"/>
                </a:solidFill>
                <a:latin typeface="Arial"/>
                <a:ea typeface="Arial"/>
                <a:cs typeface="Arial"/>
              </a:rPr>
              <a:t>CURRENT SOFTWARE CAPABILITIES</a:t>
            </a:r>
          </a:p>
        </p:txBody>
      </p:sp>
      <p:sp>
        <p:nvSpPr>
          <p:cNvPr id="20" name="">
            <a:extLst xmlns:a="http://schemas.openxmlformats.org/drawingml/2006/main">
              <a:ext uri="{FF2B5EF4-FFF2-40B4-BE49-F238E27FC236}">
                <a16:creationId xmlns:a16="http://schemas.microsoft.com/office/drawing/2014/main" id="{DBD3493B-850D-4EA4-A85A-E09884042FAD}"/>
              </a:ext>
            </a:extLst>
          </p:cNvPr>
          <p:cNvSpPr>
            <a:spLocks xmlns:a="http://schemas.openxmlformats.org/drawingml/2006/main" noGrp="1"/>
          </p:cNvSpPr>
          <p:nvPr/>
        </p:nvSpPr>
        <p:spPr>
          <a:xfrm xmlns:a="http://schemas.openxmlformats.org/drawingml/2006/main">
            <a:off x="6524625" y="4276725"/>
            <a:ext cx="4857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One view for voltage, current, reported SOC and four temperature channels. Stored history and configured risk alerts support review. Device IDs support per-device API queries. More sensor channels require schema changes.</a:t>
            </a:r>
          </a:p>
        </p:txBody>
      </p:sp>
      <p:sp>
        <p:nvSpPr>
          <p:cNvPr id="21" name="">
            <a:extLst xmlns:a="http://schemas.openxmlformats.org/drawingml/2006/main">
              <a:ext uri="{FF2B5EF4-FFF2-40B4-BE49-F238E27FC236}">
                <a16:creationId xmlns:a16="http://schemas.microsoft.com/office/drawing/2014/main" id="{B034E745-C2D7-4BAD-BE77-D6CA3E82F7E3}"/>
              </a:ext>
            </a:extLst>
          </p:cNvPr>
          <p:cNvSpPr>
            <a:spLocks xmlns:a="http://schemas.openxmlformats.org/drawingml/2006/main" noGrp="1"/>
          </p:cNvSpPr>
          <p:nvPr/>
        </p:nvSpPr>
        <p:spPr>
          <a:xfrm xmlns:a="http://schemas.openxmlformats.org/drawingml/2006/main">
            <a:off x="6353175" y="5314950"/>
            <a:ext cx="5219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F2B76B"/>
                </a:solidFill>
                <a:latin typeface="Arial"/>
                <a:ea typeface="Arial"/>
                <a:cs typeface="Arial"/>
              </a:defRPr>
            </a:defPPr>
          </a:lstStyle>
          <a:p xmlns:a="http://schemas.openxmlformats.org/drawingml/2006/main">
            <a:pPr algn="l">
              <a:defRPr sz="1050" b="0" i="0">
                <a:solidFill>
                  <a:srgbClr val="F2B76B"/>
                </a:solidFill>
                <a:latin typeface="Arial"/>
                <a:ea typeface="Arial"/>
                <a:cs typeface="Arial"/>
              </a:defRPr>
            </a:pPr>
            <a:r>
              <a:rPr sz="1050" b="0" i="0">
                <a:solidFill>
                  <a:srgbClr val="F2B76B"/>
                </a:solidFill>
                <a:latin typeface="Arial"/>
                <a:ea typeface="Arial"/>
                <a:cs typeface="Arial"/>
              </a:rPr>
              <a:t>Deployment needs sensor compatibility checks, calibration, reliable networking, threshold configuration and a safety review.</a:t>
            </a:r>
          </a:p>
        </p:txBody>
      </p:sp>
      <p:sp>
        <p:nvSpPr>
          <p:cNvPr id="22" name="">
            <a:extLst xmlns:a="http://schemas.openxmlformats.org/drawingml/2006/main">
              <a:ext uri="{FF2B5EF4-FFF2-40B4-BE49-F238E27FC236}">
                <a16:creationId xmlns:a16="http://schemas.microsoft.com/office/drawing/2014/main" id="{9E82716C-7781-4685-9322-DB90FEA9A252}"/>
              </a:ext>
            </a:extLst>
          </p:cNvPr>
          <p:cNvSpPr>
            <a:spLocks xmlns:a="http://schemas.openxmlformats.org/drawingml/2006/main" noGrp="1"/>
          </p:cNvSpPr>
          <p:nvPr/>
        </p:nvSpPr>
        <p:spPr>
          <a:xfrm xmlns:a="http://schemas.openxmlformats.org/drawingml/2006/main">
            <a:off x="762000" y="5895975"/>
            <a:ext cx="2952750" cy="476250"/>
          </a:xfrm>
          <a:prstGeom xmlns:a="http://schemas.openxmlformats.org/drawingml/2006/main" prst="roundRect">
            <a:avLst>
              <a:gd name="adj" fmla="val 24000"/>
            </a:avLst>
          </a:prstGeom>
          <a:solidFill xmlns:a="http://schemas.openxmlformats.org/drawingml/2006/main">
            <a:srgbClr val="102231"/>
          </a:solidFill>
          <a:ln xmlns:a="http://schemas.openxmlformats.org/drawingml/2006/main" w="11430">
            <a:solidFill>
              <a:srgbClr val="579FF2"/>
            </a:solidFill>
            <a:prstDash val="solid"/>
          </a:ln>
        </p:spPr>
      </p:sp>
      <p:sp>
        <p:nvSpPr>
          <p:cNvPr id="23" name="">
            <a:extLst xmlns:a="http://schemas.openxmlformats.org/drawingml/2006/main">
              <a:ext uri="{FF2B5EF4-FFF2-40B4-BE49-F238E27FC236}">
                <a16:creationId xmlns:a16="http://schemas.microsoft.com/office/drawing/2014/main" id="{964CC0D7-BF4D-401A-968F-88BDB62CB2E2}"/>
              </a:ext>
            </a:extLst>
          </p:cNvPr>
          <p:cNvSpPr>
            <a:spLocks xmlns:a="http://schemas.openxmlformats.org/drawingml/2006/main" noGrp="1"/>
          </p:cNvSpPr>
          <p:nvPr/>
        </p:nvSpPr>
        <p:spPr>
          <a:xfrm xmlns:a="http://schemas.openxmlformats.org/drawingml/2006/main">
            <a:off x="904875" y="5972175"/>
            <a:ext cx="1095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579FF2"/>
                </a:solidFill>
                <a:latin typeface="Arial"/>
                <a:ea typeface="Arial"/>
                <a:cs typeface="Arial"/>
              </a:defRPr>
            </a:defPPr>
          </a:lstStyle>
          <a:p xmlns:a="http://schemas.openxmlformats.org/drawingml/2006/main">
            <a:pPr algn="l">
              <a:defRPr sz="975" b="1" i="0">
                <a:solidFill>
                  <a:srgbClr val="579FF2"/>
                </a:solidFill>
                <a:latin typeface="Arial"/>
                <a:ea typeface="Arial"/>
                <a:cs typeface="Arial"/>
              </a:defRPr>
            </a:pPr>
            <a:r>
              <a:rPr sz="975" b="1" i="0">
                <a:solidFill>
                  <a:srgbClr val="579FF2"/>
                </a:solidFill>
                <a:latin typeface="Arial"/>
                <a:ea typeface="Arial"/>
                <a:cs typeface="Arial"/>
              </a:rPr>
              <a:t>MONITOR</a:t>
            </a:r>
          </a:p>
        </p:txBody>
      </p:sp>
      <p:sp>
        <p:nvSpPr>
          <p:cNvPr id="24" name="">
            <a:extLst xmlns:a="http://schemas.openxmlformats.org/drawingml/2006/main">
              <a:ext uri="{FF2B5EF4-FFF2-40B4-BE49-F238E27FC236}">
                <a16:creationId xmlns:a16="http://schemas.microsoft.com/office/drawing/2014/main" id="{BC11D430-4AA9-47AF-9452-0F2439BE7040}"/>
              </a:ext>
            </a:extLst>
          </p:cNvPr>
          <p:cNvSpPr>
            <a:spLocks xmlns:a="http://schemas.openxmlformats.org/drawingml/2006/main" noGrp="1"/>
          </p:cNvSpPr>
          <p:nvPr/>
        </p:nvSpPr>
        <p:spPr>
          <a:xfrm xmlns:a="http://schemas.openxmlformats.org/drawingml/2006/main">
            <a:off x="904875" y="6162675"/>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F3F7FA"/>
                </a:solidFill>
                <a:latin typeface="Arial"/>
                <a:ea typeface="Arial"/>
                <a:cs typeface="Arial"/>
              </a:defRPr>
            </a:defPPr>
          </a:lstStyle>
          <a:p xmlns:a="http://schemas.openxmlformats.org/drawingml/2006/main">
            <a:pPr algn="l">
              <a:defRPr sz="975" b="0" i="0">
                <a:solidFill>
                  <a:srgbClr val="F3F7FA"/>
                </a:solidFill>
                <a:latin typeface="Arial"/>
                <a:ea typeface="Arial"/>
                <a:cs typeface="Arial"/>
              </a:defRPr>
            </a:pPr>
            <a:r>
              <a:rPr sz="975" b="0" i="0">
                <a:solidFill>
                  <a:srgbClr val="F3F7FA"/>
                </a:solidFill>
                <a:latin typeface="Arial"/>
                <a:ea typeface="Arial"/>
                <a:cs typeface="Arial"/>
              </a:rPr>
              <a:t>Validated measurements</a:t>
            </a:r>
          </a:p>
        </p:txBody>
      </p:sp>
      <p:sp>
        <p:nvSpPr>
          <p:cNvPr id="25" name="">
            <a:extLst xmlns:a="http://schemas.openxmlformats.org/drawingml/2006/main">
              <a:ext uri="{FF2B5EF4-FFF2-40B4-BE49-F238E27FC236}">
                <a16:creationId xmlns:a16="http://schemas.microsoft.com/office/drawing/2014/main" id="{D444D70D-2FF2-4ACB-B0E6-090A443B3872}"/>
              </a:ext>
            </a:extLst>
          </p:cNvPr>
          <p:cNvSpPr>
            <a:spLocks xmlns:a="http://schemas.openxmlformats.org/drawingml/2006/main" noGrp="1"/>
          </p:cNvSpPr>
          <p:nvPr/>
        </p:nvSpPr>
        <p:spPr>
          <a:xfrm xmlns:a="http://schemas.openxmlformats.org/drawingml/2006/main">
            <a:off x="4381500" y="5895975"/>
            <a:ext cx="2952750" cy="476250"/>
          </a:xfrm>
          <a:prstGeom xmlns:a="http://schemas.openxmlformats.org/drawingml/2006/main" prst="roundRect">
            <a:avLst>
              <a:gd name="adj" fmla="val 24000"/>
            </a:avLst>
          </a:prstGeom>
          <a:solidFill xmlns:a="http://schemas.openxmlformats.org/drawingml/2006/main">
            <a:srgbClr val="102231"/>
          </a:solidFill>
          <a:ln xmlns:a="http://schemas.openxmlformats.org/drawingml/2006/main" w="11430">
            <a:solidFill>
              <a:srgbClr val="55D9E8"/>
            </a:solidFill>
            <a:prstDash val="solid"/>
          </a:ln>
        </p:spPr>
      </p:sp>
      <p:sp>
        <p:nvSpPr>
          <p:cNvPr id="26" name="">
            <a:extLst xmlns:a="http://schemas.openxmlformats.org/drawingml/2006/main">
              <a:ext uri="{FF2B5EF4-FFF2-40B4-BE49-F238E27FC236}">
                <a16:creationId xmlns:a16="http://schemas.microsoft.com/office/drawing/2014/main" id="{CC6E317E-E300-40E2-AA22-C491ECE2D2F4}"/>
              </a:ext>
            </a:extLst>
          </p:cNvPr>
          <p:cNvSpPr>
            <a:spLocks xmlns:a="http://schemas.openxmlformats.org/drawingml/2006/main" noGrp="1"/>
          </p:cNvSpPr>
          <p:nvPr/>
        </p:nvSpPr>
        <p:spPr>
          <a:xfrm xmlns:a="http://schemas.openxmlformats.org/drawingml/2006/main">
            <a:off x="4524375" y="5972175"/>
            <a:ext cx="1095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55D9E8"/>
                </a:solidFill>
                <a:latin typeface="Arial"/>
                <a:ea typeface="Arial"/>
                <a:cs typeface="Arial"/>
              </a:defRPr>
            </a:defPPr>
          </a:lstStyle>
          <a:p xmlns:a="http://schemas.openxmlformats.org/drawingml/2006/main">
            <a:pPr algn="l">
              <a:defRPr sz="975" b="1" i="0">
                <a:solidFill>
                  <a:srgbClr val="55D9E8"/>
                </a:solidFill>
                <a:latin typeface="Arial"/>
                <a:ea typeface="Arial"/>
                <a:cs typeface="Arial"/>
              </a:defRPr>
            </a:pPr>
            <a:r>
              <a:rPr sz="975" b="1" i="0">
                <a:solidFill>
                  <a:srgbClr val="55D9E8"/>
                </a:solidFill>
                <a:latin typeface="Arial"/>
                <a:ea typeface="Arial"/>
                <a:cs typeface="Arial"/>
              </a:rPr>
              <a:t>ANALYSE</a:t>
            </a:r>
          </a:p>
        </p:txBody>
      </p:sp>
      <p:sp>
        <p:nvSpPr>
          <p:cNvPr id="27" name="">
            <a:extLst xmlns:a="http://schemas.openxmlformats.org/drawingml/2006/main">
              <a:ext uri="{FF2B5EF4-FFF2-40B4-BE49-F238E27FC236}">
                <a16:creationId xmlns:a16="http://schemas.microsoft.com/office/drawing/2014/main" id="{A233B475-8275-42EB-B7E1-DCFE3E78F300}"/>
              </a:ext>
            </a:extLst>
          </p:cNvPr>
          <p:cNvSpPr>
            <a:spLocks xmlns:a="http://schemas.openxmlformats.org/drawingml/2006/main" noGrp="1"/>
          </p:cNvSpPr>
          <p:nvPr/>
        </p:nvSpPr>
        <p:spPr>
          <a:xfrm xmlns:a="http://schemas.openxmlformats.org/drawingml/2006/main">
            <a:off x="4524375" y="6162675"/>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F3F7FA"/>
                </a:solidFill>
                <a:latin typeface="Arial"/>
                <a:ea typeface="Arial"/>
                <a:cs typeface="Arial"/>
              </a:defRPr>
            </a:defPPr>
          </a:lstStyle>
          <a:p xmlns:a="http://schemas.openxmlformats.org/drawingml/2006/main">
            <a:pPr algn="l">
              <a:defRPr sz="975" b="0" i="0">
                <a:solidFill>
                  <a:srgbClr val="F3F7FA"/>
                </a:solidFill>
                <a:latin typeface="Arial"/>
                <a:ea typeface="Arial"/>
                <a:cs typeface="Arial"/>
              </a:defRPr>
            </a:pPr>
            <a:r>
              <a:rPr sz="975" b="0" i="0">
                <a:solidFill>
                  <a:srgbClr val="F3F7FA"/>
                </a:solidFill>
                <a:latin typeface="Arial"/>
                <a:ea typeface="Arial"/>
                <a:cs typeface="Arial"/>
              </a:rPr>
              <a:t>History and configured rules</a:t>
            </a:r>
          </a:p>
        </p:txBody>
      </p:sp>
      <p:sp>
        <p:nvSpPr>
          <p:cNvPr id="28" name="">
            <a:extLst xmlns:a="http://schemas.openxmlformats.org/drawingml/2006/main">
              <a:ext uri="{FF2B5EF4-FFF2-40B4-BE49-F238E27FC236}">
                <a16:creationId xmlns:a16="http://schemas.microsoft.com/office/drawing/2014/main" id="{AFAEC32F-D755-442C-A026-C6A62018ACB0}"/>
              </a:ext>
            </a:extLst>
          </p:cNvPr>
          <p:cNvSpPr>
            <a:spLocks xmlns:a="http://schemas.openxmlformats.org/drawingml/2006/main" noGrp="1"/>
          </p:cNvSpPr>
          <p:nvPr/>
        </p:nvSpPr>
        <p:spPr>
          <a:xfrm xmlns:a="http://schemas.openxmlformats.org/drawingml/2006/main">
            <a:off x="8001000" y="5895975"/>
            <a:ext cx="2952750" cy="476250"/>
          </a:xfrm>
          <a:prstGeom xmlns:a="http://schemas.openxmlformats.org/drawingml/2006/main" prst="roundRect">
            <a:avLst>
              <a:gd name="adj" fmla="val 24000"/>
            </a:avLst>
          </a:prstGeom>
          <a:solidFill xmlns:a="http://schemas.openxmlformats.org/drawingml/2006/main">
            <a:srgbClr val="102231"/>
          </a:solidFill>
          <a:ln xmlns:a="http://schemas.openxmlformats.org/drawingml/2006/main" w="11430">
            <a:solidFill>
              <a:srgbClr val="4DD4AA"/>
            </a:solidFill>
            <a:prstDash val="solid"/>
          </a:ln>
        </p:spPr>
      </p:sp>
      <p:sp>
        <p:nvSpPr>
          <p:cNvPr id="29" name="">
            <a:extLst xmlns:a="http://schemas.openxmlformats.org/drawingml/2006/main">
              <a:ext uri="{FF2B5EF4-FFF2-40B4-BE49-F238E27FC236}">
                <a16:creationId xmlns:a16="http://schemas.microsoft.com/office/drawing/2014/main" id="{D903A87E-82CF-450C-9345-6D7DCE35840A}"/>
              </a:ext>
            </a:extLst>
          </p:cNvPr>
          <p:cNvSpPr>
            <a:spLocks xmlns:a="http://schemas.openxmlformats.org/drawingml/2006/main" noGrp="1"/>
          </p:cNvSpPr>
          <p:nvPr/>
        </p:nvSpPr>
        <p:spPr>
          <a:xfrm xmlns:a="http://schemas.openxmlformats.org/drawingml/2006/main">
            <a:off x="8143875" y="5972175"/>
            <a:ext cx="1095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4DD4AA"/>
                </a:solidFill>
                <a:latin typeface="Arial"/>
                <a:ea typeface="Arial"/>
                <a:cs typeface="Arial"/>
              </a:defRPr>
            </a:defPPr>
          </a:lstStyle>
          <a:p xmlns:a="http://schemas.openxmlformats.org/drawingml/2006/main">
            <a:pPr algn="l">
              <a:defRPr sz="975" b="1" i="0">
                <a:solidFill>
                  <a:srgbClr val="4DD4AA"/>
                </a:solidFill>
                <a:latin typeface="Arial"/>
                <a:ea typeface="Arial"/>
                <a:cs typeface="Arial"/>
              </a:defRPr>
            </a:pPr>
            <a:r>
              <a:rPr sz="975" b="1" i="0">
                <a:solidFill>
                  <a:srgbClr val="4DD4AA"/>
                </a:solidFill>
                <a:latin typeface="Arial"/>
                <a:ea typeface="Arial"/>
                <a:cs typeface="Arial"/>
              </a:rPr>
              <a:t>INFORM</a:t>
            </a:r>
          </a:p>
        </p:txBody>
      </p:sp>
      <p:sp>
        <p:nvSpPr>
          <p:cNvPr id="30" name="">
            <a:extLst xmlns:a="http://schemas.openxmlformats.org/drawingml/2006/main">
              <a:ext uri="{FF2B5EF4-FFF2-40B4-BE49-F238E27FC236}">
                <a16:creationId xmlns:a16="http://schemas.microsoft.com/office/drawing/2014/main" id="{5F018881-4F0B-4DDC-8E07-667E72C00344}"/>
              </a:ext>
            </a:extLst>
          </p:cNvPr>
          <p:cNvSpPr>
            <a:spLocks xmlns:a="http://schemas.openxmlformats.org/drawingml/2006/main" noGrp="1"/>
          </p:cNvSpPr>
          <p:nvPr/>
        </p:nvSpPr>
        <p:spPr>
          <a:xfrm xmlns:a="http://schemas.openxmlformats.org/drawingml/2006/main">
            <a:off x="8143875" y="6162675"/>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F3F7FA"/>
                </a:solidFill>
                <a:latin typeface="Arial"/>
                <a:ea typeface="Arial"/>
                <a:cs typeface="Arial"/>
              </a:defRPr>
            </a:defPPr>
          </a:lstStyle>
          <a:p xmlns:a="http://schemas.openxmlformats.org/drawingml/2006/main">
            <a:pPr algn="l">
              <a:defRPr sz="975" b="0" i="0">
                <a:solidFill>
                  <a:srgbClr val="F3F7FA"/>
                </a:solidFill>
                <a:latin typeface="Arial"/>
                <a:ea typeface="Arial"/>
                <a:cs typeface="Arial"/>
              </a:defRPr>
            </a:pPr>
            <a:r>
              <a:rPr sz="975" b="0" i="0">
                <a:solidFill>
                  <a:srgbClr val="F3F7FA"/>
                </a:solidFill>
                <a:latin typeface="Arial"/>
                <a:ea typeface="Arial"/>
                <a:cs typeface="Arial"/>
              </a:rPr>
              <a:t>Dashboard and stored alerts</a:t>
            </a:r>
          </a:p>
        </p:txBody>
      </p:sp>
      <p:sp>
        <p:nvSpPr>
          <p:cNvPr id="31" name="">
            <a:extLst xmlns:a="http://schemas.openxmlformats.org/drawingml/2006/main">
              <a:ext uri="{FF2B5EF4-FFF2-40B4-BE49-F238E27FC236}">
                <a16:creationId xmlns:a16="http://schemas.microsoft.com/office/drawing/2014/main" id="{802DB2B8-C489-47BE-9F8F-25030B5B9F95}"/>
              </a:ext>
            </a:extLst>
          </p:cNvPr>
          <p:cNvSpPr>
            <a:spLocks xmlns:a="http://schemas.openxmlformats.org/drawingml/2006/main" noGrp="1"/>
          </p:cNvSpPr>
          <p:nvPr/>
        </p:nvSpPr>
        <p:spPr>
          <a:xfrm xmlns:a="http://schemas.openxmlformats.org/drawingml/2006/main">
            <a:off x="3810000" y="6076950"/>
            <a:ext cx="266700"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665D82A-0BBB-4FD9-86D3-07D0D2B63C70}"/>
              </a:ext>
            </a:extLst>
          </p:cNvPr>
          <p:cNvSpPr>
            <a:spLocks xmlns:a="http://schemas.openxmlformats.org/drawingml/2006/main" noGrp="1"/>
          </p:cNvSpPr>
          <p:nvPr/>
        </p:nvSpPr>
        <p:spPr>
          <a:xfrm xmlns:a="http://schemas.openxmlformats.org/drawingml/2006/main">
            <a:off x="7429500" y="6076950"/>
            <a:ext cx="266700"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33B010C-FD0D-451E-9128-C32E834C431B}"/>
              </a:ext>
            </a:extLst>
          </p:cNvPr>
          <p:cNvSpPr>
            <a:spLocks xmlns:a="http://schemas.openxmlformats.org/drawingml/2006/main" noGrp="1"/>
          </p:cNvSpPr>
          <p:nvPr/>
        </p:nvSpPr>
        <p:spPr>
          <a:xfrm xmlns:a="http://schemas.openxmlformats.org/drawingml/2006/main">
            <a:off x="590550" y="6496050"/>
            <a:ext cx="1095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i="0">
                <a:solidFill>
                  <a:srgbClr val="6E8595"/>
                </a:solidFill>
                <a:latin typeface="Arial"/>
                <a:ea typeface="Arial"/>
                <a:cs typeface="Arial"/>
              </a:defRPr>
            </a:defPPr>
          </a:lstStyle>
          <a:p xmlns:a="http://schemas.openxmlformats.org/drawingml/2006/main">
            <a:pPr algn="ctr">
              <a:defRPr sz="900" b="0" i="0">
                <a:solidFill>
                  <a:srgbClr val="6E8595"/>
                </a:solidFill>
                <a:latin typeface="Arial"/>
                <a:ea typeface="Arial"/>
                <a:cs typeface="Arial"/>
              </a:defRPr>
            </a:pPr>
            <a:r>
              <a:rPr sz="900" b="0" i="0">
                <a:solidFill>
                  <a:srgbClr val="6E8595"/>
                </a:solidFill>
                <a:latin typeface="Arial"/>
                <a:ea typeface="Arial"/>
                <a:cs typeface="Arial"/>
              </a:rPr>
              <a:t>Use cases are proposed. No field deployment is demonstrated.</a:t>
            </a:r>
          </a:p>
        </p:txBody>
      </p:sp>
    </p:spTree>
    <p:extLst>
      <p:ext uri="{BB962C8B-B14F-4D97-AF65-F5344CB8AC3E}">
        <p14:creationId xmlns:p14="http://schemas.microsoft.com/office/powerpoint/2010/main" val="1201021214"/>
      </p:ext>
    </p:extLst>
  </p:cSld>
</p:sld>
</file>

<file path=ppt/slides/slide4.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78075786-692C-4CF3-9040-19F4B101EC30}"/>
              </a:ext>
            </a:extLst>
          </p:cNvPr>
          <p:cNvSpPr>
            <a:spLocks xmlns:a="http://schemas.openxmlformats.org/drawingml/2006/main" noGrp="1"/>
          </p:cNvSpPr>
          <p:nvPr/>
        </p:nvSpPr>
        <p:spPr>
          <a:xfrm xmlns:a="http://schemas.openxmlformats.org/drawingml/2006/main">
            <a:off x="571500" y="2571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278FCBDB-1EE2-4FFE-B292-5EACA4D98D21}"/>
              </a:ext>
            </a:extLst>
          </p:cNvPr>
          <p:cNvSpPr>
            <a:spLocks xmlns:a="http://schemas.openxmlformats.org/drawingml/2006/main" noGrp="1"/>
          </p:cNvSpPr>
          <p:nvPr/>
        </p:nvSpPr>
        <p:spPr>
          <a:xfrm xmlns:a="http://schemas.openxmlformats.org/drawingml/2006/main">
            <a:off x="571500" y="523875"/>
            <a:ext cx="457200" cy="28575"/>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A8DE2A1-05A8-4B51-B5D9-2ED2E9C38044}"/>
              </a:ext>
            </a:extLst>
          </p:cNvPr>
          <p:cNvSpPr>
            <a:spLocks xmlns:a="http://schemas.openxmlformats.org/drawingml/2006/main" noGrp="1"/>
          </p:cNvSpPr>
          <p:nvPr/>
        </p:nvSpPr>
        <p:spPr>
          <a:xfrm xmlns:a="http://schemas.openxmlformats.org/drawingml/2006/main">
            <a:off x="10829925" y="266700"/>
            <a:ext cx="790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A8BAC6"/>
                </a:solidFill>
                <a:latin typeface="Arial"/>
                <a:ea typeface="Arial"/>
                <a:cs typeface="Arial"/>
              </a:defRPr>
            </a:defPPr>
          </a:lstStyle>
          <a:p xmlns:a="http://schemas.openxmlformats.org/drawingml/2006/main">
            <a:pPr algn="r">
              <a:defRPr sz="975" b="1" i="0">
                <a:solidFill>
                  <a:srgbClr val="A8BAC6"/>
                </a:solidFill>
                <a:latin typeface="Arial"/>
                <a:ea typeface="Arial"/>
                <a:cs typeface="Arial"/>
              </a:defRPr>
            </a:pPr>
            <a:r>
              <a:rPr sz="975" b="1" i="0">
                <a:solidFill>
                  <a:srgbClr val="A8BAC6"/>
                </a:solidFill>
                <a:latin typeface="Arial"/>
                <a:ea typeface="Arial"/>
                <a:cs typeface="Arial"/>
              </a:rPr>
              <a:t>04 / 04</a:t>
            </a:r>
          </a:p>
        </p:txBody>
      </p:sp>
      <p:sp>
        <p:nvSpPr>
          <p:cNvPr id="4" name="">
            <a:extLst xmlns:a="http://schemas.openxmlformats.org/drawingml/2006/main">
              <a:ext uri="{FF2B5EF4-FFF2-40B4-BE49-F238E27FC236}">
                <a16:creationId xmlns:a16="http://schemas.microsoft.com/office/drawing/2014/main" id="{1C3E6590-565F-44A9-A204-4BE6EA33152C}"/>
              </a:ext>
            </a:extLst>
          </p:cNvPr>
          <p:cNvSpPr>
            <a:spLocks xmlns:a="http://schemas.openxmlformats.org/drawingml/2006/main" noGrp="1"/>
          </p:cNvSpPr>
          <p:nvPr/>
        </p:nvSpPr>
        <p:spPr>
          <a:xfrm xmlns:a="http://schemas.openxmlformats.org/drawingml/2006/main">
            <a:off x="571500" y="6477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i="0">
                <a:solidFill>
                  <a:srgbClr val="F3F7FA"/>
                </a:solidFill>
                <a:latin typeface="Arial"/>
                <a:ea typeface="Arial"/>
                <a:cs typeface="Arial"/>
              </a:defRPr>
            </a:defPPr>
          </a:lstStyle>
          <a:p xmlns:a="http://schemas.openxmlformats.org/drawingml/2006/main">
            <a:pPr algn="l">
              <a:defRPr sz="2625" b="1" i="0">
                <a:solidFill>
                  <a:srgbClr val="F3F7FA"/>
                </a:solidFill>
                <a:latin typeface="Arial"/>
                <a:ea typeface="Arial"/>
                <a:cs typeface="Arial"/>
              </a:defRPr>
            </a:pPr>
            <a:r>
              <a:rPr sz="2625" b="1" i="0">
                <a:solidFill>
                  <a:srgbClr val="F3F7FA"/>
                </a:solidFill>
                <a:latin typeface="Arial"/>
                <a:ea typeface="Arial"/>
                <a:cs typeface="Arial"/>
              </a:rPr>
              <a:t>FROM SOFTWARE FOUNDATION TO A VALIDATED BMS</a:t>
            </a:r>
          </a:p>
        </p:txBody>
      </p:sp>
      <p:sp>
        <p:nvSpPr>
          <p:cNvPr id="5" name="">
            <a:extLst xmlns:a="http://schemas.openxmlformats.org/drawingml/2006/main">
              <a:ext uri="{FF2B5EF4-FFF2-40B4-BE49-F238E27FC236}">
                <a16:creationId xmlns:a16="http://schemas.microsoft.com/office/drawing/2014/main" id="{E2B70564-CCE1-4B1E-8C0D-4CDC9D222FA6}"/>
              </a:ext>
            </a:extLst>
          </p:cNvPr>
          <p:cNvSpPr>
            <a:spLocks xmlns:a="http://schemas.openxmlformats.org/drawingml/2006/main" noGrp="1"/>
          </p:cNvSpPr>
          <p:nvPr/>
        </p:nvSpPr>
        <p:spPr>
          <a:xfrm xmlns:a="http://schemas.openxmlformats.org/drawingml/2006/main">
            <a:off x="590550" y="1143000"/>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A8BAC6"/>
                </a:solidFill>
                <a:latin typeface="Arial"/>
                <a:ea typeface="Arial"/>
                <a:cs typeface="Arial"/>
              </a:defRPr>
            </a:defPPr>
          </a:lstStyle>
          <a:p xmlns:a="http://schemas.openxmlformats.org/drawingml/2006/main">
            <a:pPr algn="l">
              <a:defRPr sz="1350" b="0" i="0">
                <a:solidFill>
                  <a:srgbClr val="A8BAC6"/>
                </a:solidFill>
                <a:latin typeface="Arial"/>
                <a:ea typeface="Arial"/>
                <a:cs typeface="Arial"/>
              </a:defRPr>
            </a:pPr>
            <a:r>
              <a:rPr sz="1350" b="0" i="0">
                <a:solidFill>
                  <a:srgbClr val="A8BAC6"/>
                </a:solidFill>
                <a:latin typeface="Arial"/>
                <a:ea typeface="Arial"/>
                <a:cs typeface="Arial"/>
              </a:rPr>
              <a:t>A practical validation sequence for the next engineering milestone</a:t>
            </a:r>
          </a:p>
        </p:txBody>
      </p:sp>
      <p:sp>
        <p:nvSpPr>
          <p:cNvPr id="6" name="">
            <a:extLst xmlns:a="http://schemas.openxmlformats.org/drawingml/2006/main">
              <a:ext uri="{FF2B5EF4-FFF2-40B4-BE49-F238E27FC236}">
                <a16:creationId xmlns:a16="http://schemas.microsoft.com/office/drawing/2014/main" id="{CEB6714E-0E36-4862-B8EF-069C531189FC}"/>
              </a:ext>
            </a:extLst>
          </p:cNvPr>
          <p:cNvSpPr>
            <a:spLocks xmlns:a="http://schemas.openxmlformats.org/drawingml/2006/main" noGrp="1"/>
          </p:cNvSpPr>
          <p:nvPr/>
        </p:nvSpPr>
        <p:spPr>
          <a:xfrm xmlns:a="http://schemas.openxmlformats.org/drawingml/2006/main">
            <a:off x="571500" y="1581150"/>
            <a:ext cx="2076450" cy="1676400"/>
          </a:xfrm>
          <a:prstGeom xmlns:a="http://schemas.openxmlformats.org/drawingml/2006/main" prst="roundRect">
            <a:avLst>
              <a:gd name="adj" fmla="val 7955"/>
            </a:avLst>
          </a:prstGeom>
          <a:solidFill xmlns:a="http://schemas.openxmlformats.org/drawingml/2006/main">
            <a:srgbClr val="102230"/>
          </a:solidFill>
          <a:ln xmlns:a="http://schemas.openxmlformats.org/drawingml/2006/main" w="11430">
            <a:solidFill>
              <a:srgbClr val="294353"/>
            </a:solidFill>
            <a:prstDash val="solid"/>
          </a:ln>
        </p:spPr>
      </p:sp>
      <p:sp>
        <p:nvSpPr>
          <p:cNvPr id="7" name="">
            <a:extLst xmlns:a="http://schemas.openxmlformats.org/drawingml/2006/main">
              <a:ext uri="{FF2B5EF4-FFF2-40B4-BE49-F238E27FC236}">
                <a16:creationId xmlns:a16="http://schemas.microsoft.com/office/drawing/2014/main" id="{E63667B7-527F-4D09-A62A-874A08265F01}"/>
              </a:ext>
            </a:extLst>
          </p:cNvPr>
          <p:cNvSpPr>
            <a:spLocks xmlns:a="http://schemas.openxmlformats.org/drawingml/2006/main" noGrp="1"/>
          </p:cNvSpPr>
          <p:nvPr/>
        </p:nvSpPr>
        <p:spPr>
          <a:xfrm xmlns:a="http://schemas.openxmlformats.org/drawingml/2006/main">
            <a:off x="733425" y="1743075"/>
            <a:ext cx="361950" cy="361950"/>
          </a:xfrm>
          <a:prstGeom xmlns:a="http://schemas.openxmlformats.org/drawingml/2006/main" prst="roundRect">
            <a:avLst>
              <a:gd name="adj" fmla="val 50000"/>
            </a:avLst>
          </a:prstGeom>
          <a:solidFill xmlns:a="http://schemas.openxmlformats.org/drawingml/2006/main">
            <a:srgbClr val="332819"/>
          </a:solidFill>
          <a:ln xmlns:a="http://schemas.openxmlformats.org/drawingml/2006/main" w="11430">
            <a:solidFill>
              <a:srgbClr val="F2B76B"/>
            </a:solidFill>
            <a:prstDash val="solid"/>
          </a:ln>
        </p:spPr>
      </p:sp>
      <p:sp>
        <p:nvSpPr>
          <p:cNvPr id="8" name="">
            <a:extLst xmlns:a="http://schemas.openxmlformats.org/drawingml/2006/main">
              <a:ext uri="{FF2B5EF4-FFF2-40B4-BE49-F238E27FC236}">
                <a16:creationId xmlns:a16="http://schemas.microsoft.com/office/drawing/2014/main" id="{1EF67B6B-5F18-4289-953D-89F312CDCB85}"/>
              </a:ext>
            </a:extLst>
          </p:cNvPr>
          <p:cNvSpPr>
            <a:spLocks xmlns:a="http://schemas.openxmlformats.org/drawingml/2006/main" noGrp="1"/>
          </p:cNvSpPr>
          <p:nvPr/>
        </p:nvSpPr>
        <p:spPr>
          <a:xfrm xmlns:a="http://schemas.openxmlformats.org/drawingml/2006/main">
            <a:off x="733425" y="1828800"/>
            <a:ext cx="361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F2B76B"/>
                </a:solidFill>
                <a:latin typeface="Arial"/>
                <a:ea typeface="Arial"/>
                <a:cs typeface="Arial"/>
              </a:defRPr>
            </a:defPPr>
          </a:lstStyle>
          <a:p xmlns:a="http://schemas.openxmlformats.org/drawingml/2006/main">
            <a:pPr algn="ctr">
              <a:defRPr sz="1050" b="1" i="0">
                <a:solidFill>
                  <a:srgbClr val="F2B76B"/>
                </a:solidFill>
                <a:latin typeface="Arial"/>
                <a:ea typeface="Arial"/>
                <a:cs typeface="Arial"/>
              </a:defRPr>
            </a:pPr>
            <a:r>
              <a:rPr sz="1050" b="1" i="0">
                <a:solidFill>
                  <a:srgbClr val="F2B76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A7C88FDE-36F5-4B6F-9329-6F8FDB802B10}"/>
              </a:ext>
            </a:extLst>
          </p:cNvPr>
          <p:cNvSpPr>
            <a:spLocks xmlns:a="http://schemas.openxmlformats.org/drawingml/2006/main" noGrp="1"/>
          </p:cNvSpPr>
          <p:nvPr/>
        </p:nvSpPr>
        <p:spPr>
          <a:xfrm xmlns:a="http://schemas.openxmlformats.org/drawingml/2006/main">
            <a:off x="733425" y="2257425"/>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3F7FA"/>
                </a:solidFill>
                <a:latin typeface="Arial"/>
                <a:ea typeface="Arial"/>
                <a:cs typeface="Arial"/>
              </a:defRPr>
            </a:defPPr>
          </a:lstStyle>
          <a:p xmlns:a="http://schemas.openxmlformats.org/drawingml/2006/main">
            <a:pPr algn="l">
              <a:defRPr sz="1275" b="1" i="0">
                <a:solidFill>
                  <a:srgbClr val="F3F7FA"/>
                </a:solidFill>
                <a:latin typeface="Arial"/>
                <a:ea typeface="Arial"/>
                <a:cs typeface="Arial"/>
              </a:defRPr>
            </a:pPr>
            <a:r>
              <a:rPr sz="1275" b="1" i="0">
                <a:solidFill>
                  <a:srgbClr val="F3F7FA"/>
                </a:solidFill>
                <a:latin typeface="Arial"/>
                <a:ea typeface="Arial"/>
                <a:cs typeface="Arial"/>
              </a:rPr>
              <a:t>Integrate physical sensors and ESP32</a:t>
            </a:r>
          </a:p>
        </p:txBody>
      </p:sp>
      <p:sp>
        <p:nvSpPr>
          <p:cNvPr id="10" name="">
            <a:extLst xmlns:a="http://schemas.openxmlformats.org/drawingml/2006/main">
              <a:ext uri="{FF2B5EF4-FFF2-40B4-BE49-F238E27FC236}">
                <a16:creationId xmlns:a16="http://schemas.microsoft.com/office/drawing/2014/main" id="{DC9FD3E0-3363-4DC0-B536-F204ABCC1ACA}"/>
              </a:ext>
            </a:extLst>
          </p:cNvPr>
          <p:cNvSpPr>
            <a:spLocks xmlns:a="http://schemas.openxmlformats.org/drawingml/2006/main" noGrp="1"/>
          </p:cNvSpPr>
          <p:nvPr/>
        </p:nvSpPr>
        <p:spPr>
          <a:xfrm xmlns:a="http://schemas.openxmlformats.org/drawingml/2006/main">
            <a:off x="733425" y="3009900"/>
            <a:ext cx="1752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F2B76B"/>
                </a:solidFill>
                <a:latin typeface="Arial"/>
                <a:ea typeface="Arial"/>
                <a:cs typeface="Arial"/>
              </a:defRPr>
            </a:defPPr>
          </a:lstStyle>
          <a:p xmlns:a="http://schemas.openxmlformats.org/drawingml/2006/main">
            <a:pPr algn="l">
              <a:defRPr sz="825" b="1" i="0">
                <a:solidFill>
                  <a:srgbClr val="F2B76B"/>
                </a:solidFill>
                <a:latin typeface="Arial"/>
                <a:ea typeface="Arial"/>
                <a:cs typeface="Arial"/>
              </a:defRPr>
            </a:pPr>
            <a:r>
              <a:rPr sz="825" b="1" i="0">
                <a:solidFill>
                  <a:srgbClr val="F2B76B"/>
                </a:solidFill>
                <a:latin typeface="Arial"/>
                <a:ea typeface="Arial"/>
                <a:cs typeface="Arial"/>
              </a:rPr>
              <a:t>NEXT MILESTONE</a:t>
            </a:r>
          </a:p>
        </p:txBody>
      </p:sp>
      <p:sp>
        <p:nvSpPr>
          <p:cNvPr id="11" name="">
            <a:extLst xmlns:a="http://schemas.openxmlformats.org/drawingml/2006/main">
              <a:ext uri="{FF2B5EF4-FFF2-40B4-BE49-F238E27FC236}">
                <a16:creationId xmlns:a16="http://schemas.microsoft.com/office/drawing/2014/main" id="{D1F7EEE6-C632-47FE-A11D-FA2B963F914D}"/>
              </a:ext>
            </a:extLst>
          </p:cNvPr>
          <p:cNvSpPr>
            <a:spLocks xmlns:a="http://schemas.openxmlformats.org/drawingml/2006/main" noGrp="1"/>
          </p:cNvSpPr>
          <p:nvPr/>
        </p:nvSpPr>
        <p:spPr>
          <a:xfrm xmlns:a="http://schemas.openxmlformats.org/drawingml/2006/main">
            <a:off x="2657475" y="2343150"/>
            <a:ext cx="14287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C6A678A-2A5F-4DE8-9663-09E0F88EB4A9}"/>
              </a:ext>
            </a:extLst>
          </p:cNvPr>
          <p:cNvSpPr>
            <a:spLocks xmlns:a="http://schemas.openxmlformats.org/drawingml/2006/main" noGrp="1"/>
          </p:cNvSpPr>
          <p:nvPr/>
        </p:nvSpPr>
        <p:spPr>
          <a:xfrm xmlns:a="http://schemas.openxmlformats.org/drawingml/2006/main">
            <a:off x="2819400" y="1581150"/>
            <a:ext cx="2076450" cy="1676400"/>
          </a:xfrm>
          <a:prstGeom xmlns:a="http://schemas.openxmlformats.org/drawingml/2006/main" prst="roundRect">
            <a:avLst>
              <a:gd name="adj" fmla="val 7955"/>
            </a:avLst>
          </a:prstGeom>
          <a:solidFill xmlns:a="http://schemas.openxmlformats.org/drawingml/2006/main">
            <a:srgbClr val="102230"/>
          </a:solidFill>
          <a:ln xmlns:a="http://schemas.openxmlformats.org/drawingml/2006/main" w="11430">
            <a:solidFill>
              <a:srgbClr val="294353"/>
            </a:solidFill>
            <a:prstDash val="solid"/>
          </a:ln>
        </p:spPr>
      </p:sp>
      <p:sp>
        <p:nvSpPr>
          <p:cNvPr id="13" name="">
            <a:extLst xmlns:a="http://schemas.openxmlformats.org/drawingml/2006/main">
              <a:ext uri="{FF2B5EF4-FFF2-40B4-BE49-F238E27FC236}">
                <a16:creationId xmlns:a16="http://schemas.microsoft.com/office/drawing/2014/main" id="{F4C5EBEF-A5F1-47D1-8921-435FB82A85A3}"/>
              </a:ext>
            </a:extLst>
          </p:cNvPr>
          <p:cNvSpPr>
            <a:spLocks xmlns:a="http://schemas.openxmlformats.org/drawingml/2006/main" noGrp="1"/>
          </p:cNvSpPr>
          <p:nvPr/>
        </p:nvSpPr>
        <p:spPr>
          <a:xfrm xmlns:a="http://schemas.openxmlformats.org/drawingml/2006/main">
            <a:off x="2981325" y="1743075"/>
            <a:ext cx="361950" cy="361950"/>
          </a:xfrm>
          <a:prstGeom xmlns:a="http://schemas.openxmlformats.org/drawingml/2006/main" prst="roundRect">
            <a:avLst>
              <a:gd name="adj" fmla="val 50000"/>
            </a:avLst>
          </a:prstGeom>
          <a:solidFill xmlns:a="http://schemas.openxmlformats.org/drawingml/2006/main">
            <a:srgbClr val="332819"/>
          </a:solidFill>
          <a:ln xmlns:a="http://schemas.openxmlformats.org/drawingml/2006/main" w="11430">
            <a:solidFill>
              <a:srgbClr val="F2B76B"/>
            </a:solidFill>
            <a:prstDash val="solid"/>
          </a:ln>
        </p:spPr>
      </p:sp>
      <p:sp>
        <p:nvSpPr>
          <p:cNvPr id="14" name="">
            <a:extLst xmlns:a="http://schemas.openxmlformats.org/drawingml/2006/main">
              <a:ext uri="{FF2B5EF4-FFF2-40B4-BE49-F238E27FC236}">
                <a16:creationId xmlns:a16="http://schemas.microsoft.com/office/drawing/2014/main" id="{895ECB86-A10B-4845-A111-7F40FBD13AFB}"/>
              </a:ext>
            </a:extLst>
          </p:cNvPr>
          <p:cNvSpPr>
            <a:spLocks xmlns:a="http://schemas.openxmlformats.org/drawingml/2006/main" noGrp="1"/>
          </p:cNvSpPr>
          <p:nvPr/>
        </p:nvSpPr>
        <p:spPr>
          <a:xfrm xmlns:a="http://schemas.openxmlformats.org/drawingml/2006/main">
            <a:off x="2981325" y="1828800"/>
            <a:ext cx="361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F2B76B"/>
                </a:solidFill>
                <a:latin typeface="Arial"/>
                <a:ea typeface="Arial"/>
                <a:cs typeface="Arial"/>
              </a:defRPr>
            </a:defPPr>
          </a:lstStyle>
          <a:p xmlns:a="http://schemas.openxmlformats.org/drawingml/2006/main">
            <a:pPr algn="ctr">
              <a:defRPr sz="1050" b="1" i="0">
                <a:solidFill>
                  <a:srgbClr val="F2B76B"/>
                </a:solidFill>
                <a:latin typeface="Arial"/>
                <a:ea typeface="Arial"/>
                <a:cs typeface="Arial"/>
              </a:defRPr>
            </a:pPr>
            <a:r>
              <a:rPr sz="1050" b="1" i="0">
                <a:solidFill>
                  <a:srgbClr val="F2B76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C792C374-FDF1-4E53-A9E7-87D702159C64}"/>
              </a:ext>
            </a:extLst>
          </p:cNvPr>
          <p:cNvSpPr>
            <a:spLocks xmlns:a="http://schemas.openxmlformats.org/drawingml/2006/main" noGrp="1"/>
          </p:cNvSpPr>
          <p:nvPr/>
        </p:nvSpPr>
        <p:spPr>
          <a:xfrm xmlns:a="http://schemas.openxmlformats.org/drawingml/2006/main">
            <a:off x="2981325" y="2257425"/>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3F7FA"/>
                </a:solidFill>
                <a:latin typeface="Arial"/>
                <a:ea typeface="Arial"/>
                <a:cs typeface="Arial"/>
              </a:defRPr>
            </a:defPPr>
          </a:lstStyle>
          <a:p xmlns:a="http://schemas.openxmlformats.org/drawingml/2006/main">
            <a:pPr algn="l">
              <a:defRPr sz="1275" b="1" i="0">
                <a:solidFill>
                  <a:srgbClr val="F3F7FA"/>
                </a:solidFill>
                <a:latin typeface="Arial"/>
                <a:ea typeface="Arial"/>
                <a:cs typeface="Arial"/>
              </a:defRPr>
            </a:pPr>
            <a:r>
              <a:rPr sz="1275" b="1" i="0">
                <a:solidFill>
                  <a:srgbClr val="F3F7FA"/>
                </a:solidFill>
                <a:latin typeface="Arial"/>
                <a:ea typeface="Arial"/>
                <a:cs typeface="Arial"/>
              </a:rPr>
              <a:t>Compare readings with reference instruments</a:t>
            </a:r>
          </a:p>
        </p:txBody>
      </p:sp>
      <p:sp>
        <p:nvSpPr>
          <p:cNvPr id="16" name="">
            <a:extLst xmlns:a="http://schemas.openxmlformats.org/drawingml/2006/main">
              <a:ext uri="{FF2B5EF4-FFF2-40B4-BE49-F238E27FC236}">
                <a16:creationId xmlns:a16="http://schemas.microsoft.com/office/drawing/2014/main" id="{36576F16-E30A-49BD-A463-EAEA15A1E135}"/>
              </a:ext>
            </a:extLst>
          </p:cNvPr>
          <p:cNvSpPr>
            <a:spLocks xmlns:a="http://schemas.openxmlformats.org/drawingml/2006/main" noGrp="1"/>
          </p:cNvSpPr>
          <p:nvPr/>
        </p:nvSpPr>
        <p:spPr>
          <a:xfrm xmlns:a="http://schemas.openxmlformats.org/drawingml/2006/main">
            <a:off x="2981325" y="3009900"/>
            <a:ext cx="1752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F2B76B"/>
                </a:solidFill>
                <a:latin typeface="Arial"/>
                <a:ea typeface="Arial"/>
                <a:cs typeface="Arial"/>
              </a:defRPr>
            </a:defPPr>
          </a:lstStyle>
          <a:p xmlns:a="http://schemas.openxmlformats.org/drawingml/2006/main">
            <a:pPr algn="l">
              <a:defRPr sz="825" b="1" i="0">
                <a:solidFill>
                  <a:srgbClr val="F2B76B"/>
                </a:solidFill>
                <a:latin typeface="Arial"/>
                <a:ea typeface="Arial"/>
                <a:cs typeface="Arial"/>
              </a:defRPr>
            </a:pPr>
            <a:r>
              <a:rPr sz="825" b="1" i="0">
                <a:solidFill>
                  <a:srgbClr val="F2B76B"/>
                </a:solidFill>
                <a:latin typeface="Arial"/>
                <a:ea typeface="Arial"/>
                <a:cs typeface="Arial"/>
              </a:rPr>
              <a:t>NEXT MILESTONE</a:t>
            </a:r>
          </a:p>
        </p:txBody>
      </p:sp>
      <p:sp>
        <p:nvSpPr>
          <p:cNvPr id="17" name="">
            <a:extLst xmlns:a="http://schemas.openxmlformats.org/drawingml/2006/main">
              <a:ext uri="{FF2B5EF4-FFF2-40B4-BE49-F238E27FC236}">
                <a16:creationId xmlns:a16="http://schemas.microsoft.com/office/drawing/2014/main" id="{6CA8AD9C-E9E0-4EF4-8D83-AE46CE13A0DD}"/>
              </a:ext>
            </a:extLst>
          </p:cNvPr>
          <p:cNvSpPr>
            <a:spLocks xmlns:a="http://schemas.openxmlformats.org/drawingml/2006/main" noGrp="1"/>
          </p:cNvSpPr>
          <p:nvPr/>
        </p:nvSpPr>
        <p:spPr>
          <a:xfrm xmlns:a="http://schemas.openxmlformats.org/drawingml/2006/main">
            <a:off x="4905375" y="2343150"/>
            <a:ext cx="14287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2A68669-FA71-4C02-B255-3052C40D30CC}"/>
              </a:ext>
            </a:extLst>
          </p:cNvPr>
          <p:cNvSpPr>
            <a:spLocks xmlns:a="http://schemas.openxmlformats.org/drawingml/2006/main" noGrp="1"/>
          </p:cNvSpPr>
          <p:nvPr/>
        </p:nvSpPr>
        <p:spPr>
          <a:xfrm xmlns:a="http://schemas.openxmlformats.org/drawingml/2006/main">
            <a:off x="5067300" y="1581150"/>
            <a:ext cx="2076450" cy="1676400"/>
          </a:xfrm>
          <a:prstGeom xmlns:a="http://schemas.openxmlformats.org/drawingml/2006/main" prst="roundRect">
            <a:avLst>
              <a:gd name="adj" fmla="val 7955"/>
            </a:avLst>
          </a:prstGeom>
          <a:solidFill xmlns:a="http://schemas.openxmlformats.org/drawingml/2006/main">
            <a:srgbClr val="102230"/>
          </a:solidFill>
          <a:ln xmlns:a="http://schemas.openxmlformats.org/drawingml/2006/main" w="11430">
            <a:solidFill>
              <a:srgbClr val="294353"/>
            </a:solidFill>
            <a:prstDash val="solid"/>
          </a:ln>
        </p:spPr>
      </p:sp>
      <p:sp>
        <p:nvSpPr>
          <p:cNvPr id="19" name="">
            <a:extLst xmlns:a="http://schemas.openxmlformats.org/drawingml/2006/main">
              <a:ext uri="{FF2B5EF4-FFF2-40B4-BE49-F238E27FC236}">
                <a16:creationId xmlns:a16="http://schemas.microsoft.com/office/drawing/2014/main" id="{F3BFE49A-8F36-4D88-9008-CCBF1E418E65}"/>
              </a:ext>
            </a:extLst>
          </p:cNvPr>
          <p:cNvSpPr>
            <a:spLocks xmlns:a="http://schemas.openxmlformats.org/drawingml/2006/main" noGrp="1"/>
          </p:cNvSpPr>
          <p:nvPr/>
        </p:nvSpPr>
        <p:spPr>
          <a:xfrm xmlns:a="http://schemas.openxmlformats.org/drawingml/2006/main">
            <a:off x="5229225" y="1743075"/>
            <a:ext cx="361950" cy="361950"/>
          </a:xfrm>
          <a:prstGeom xmlns:a="http://schemas.openxmlformats.org/drawingml/2006/main" prst="roundRect">
            <a:avLst>
              <a:gd name="adj" fmla="val 50000"/>
            </a:avLst>
          </a:prstGeom>
          <a:solidFill xmlns:a="http://schemas.openxmlformats.org/drawingml/2006/main">
            <a:srgbClr val="332819"/>
          </a:solidFill>
          <a:ln xmlns:a="http://schemas.openxmlformats.org/drawingml/2006/main" w="11430">
            <a:solidFill>
              <a:srgbClr val="F2B76B"/>
            </a:solidFill>
            <a:prstDash val="solid"/>
          </a:ln>
        </p:spPr>
      </p:sp>
      <p:sp>
        <p:nvSpPr>
          <p:cNvPr id="20" name="">
            <a:extLst xmlns:a="http://schemas.openxmlformats.org/drawingml/2006/main">
              <a:ext uri="{FF2B5EF4-FFF2-40B4-BE49-F238E27FC236}">
                <a16:creationId xmlns:a16="http://schemas.microsoft.com/office/drawing/2014/main" id="{46F2621B-7FB2-4327-AB29-DC3EEB5D6AE1}"/>
              </a:ext>
            </a:extLst>
          </p:cNvPr>
          <p:cNvSpPr>
            <a:spLocks xmlns:a="http://schemas.openxmlformats.org/drawingml/2006/main" noGrp="1"/>
          </p:cNvSpPr>
          <p:nvPr/>
        </p:nvSpPr>
        <p:spPr>
          <a:xfrm xmlns:a="http://schemas.openxmlformats.org/drawingml/2006/main">
            <a:off x="5229225" y="1828800"/>
            <a:ext cx="361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F2B76B"/>
                </a:solidFill>
                <a:latin typeface="Arial"/>
                <a:ea typeface="Arial"/>
                <a:cs typeface="Arial"/>
              </a:defRPr>
            </a:defPPr>
          </a:lstStyle>
          <a:p xmlns:a="http://schemas.openxmlformats.org/drawingml/2006/main">
            <a:pPr algn="ctr">
              <a:defRPr sz="1050" b="1" i="0">
                <a:solidFill>
                  <a:srgbClr val="F2B76B"/>
                </a:solidFill>
                <a:latin typeface="Arial"/>
                <a:ea typeface="Arial"/>
                <a:cs typeface="Arial"/>
              </a:defRPr>
            </a:pPr>
            <a:r>
              <a:rPr sz="1050" b="1" i="0">
                <a:solidFill>
                  <a:srgbClr val="F2B76B"/>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C3E9C294-8F83-4699-9AAD-C9672053FB1B}"/>
              </a:ext>
            </a:extLst>
          </p:cNvPr>
          <p:cNvSpPr>
            <a:spLocks xmlns:a="http://schemas.openxmlformats.org/drawingml/2006/main" noGrp="1"/>
          </p:cNvSpPr>
          <p:nvPr/>
        </p:nvSpPr>
        <p:spPr>
          <a:xfrm xmlns:a="http://schemas.openxmlformats.org/drawingml/2006/main">
            <a:off x="5229225" y="2257425"/>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3F7FA"/>
                </a:solidFill>
                <a:latin typeface="Arial"/>
                <a:ea typeface="Arial"/>
                <a:cs typeface="Arial"/>
              </a:defRPr>
            </a:defPPr>
          </a:lstStyle>
          <a:p xmlns:a="http://schemas.openxmlformats.org/drawingml/2006/main">
            <a:pPr algn="l">
              <a:defRPr sz="1275" b="1" i="0">
                <a:solidFill>
                  <a:srgbClr val="F3F7FA"/>
                </a:solidFill>
                <a:latin typeface="Arial"/>
                <a:ea typeface="Arial"/>
                <a:cs typeface="Arial"/>
              </a:defRPr>
            </a:pPr>
            <a:r>
              <a:rPr sz="1275" b="1" i="0">
                <a:solidFill>
                  <a:srgbClr val="F3F7FA"/>
                </a:solidFill>
                <a:latin typeface="Arial"/>
                <a:ea typeface="Arial"/>
                <a:cs typeface="Arial"/>
              </a:rPr>
              <a:t>Verify telemetry delivery and latency</a:t>
            </a:r>
          </a:p>
        </p:txBody>
      </p:sp>
      <p:sp>
        <p:nvSpPr>
          <p:cNvPr id="22" name="">
            <a:extLst xmlns:a="http://schemas.openxmlformats.org/drawingml/2006/main">
              <a:ext uri="{FF2B5EF4-FFF2-40B4-BE49-F238E27FC236}">
                <a16:creationId xmlns:a16="http://schemas.microsoft.com/office/drawing/2014/main" id="{CA911880-6CC1-4898-8EB5-4AD722625627}"/>
              </a:ext>
            </a:extLst>
          </p:cNvPr>
          <p:cNvSpPr>
            <a:spLocks xmlns:a="http://schemas.openxmlformats.org/drawingml/2006/main" noGrp="1"/>
          </p:cNvSpPr>
          <p:nvPr/>
        </p:nvSpPr>
        <p:spPr>
          <a:xfrm xmlns:a="http://schemas.openxmlformats.org/drawingml/2006/main">
            <a:off x="5229225" y="3009900"/>
            <a:ext cx="1752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F2B76B"/>
                </a:solidFill>
                <a:latin typeface="Arial"/>
                <a:ea typeface="Arial"/>
                <a:cs typeface="Arial"/>
              </a:defRPr>
            </a:defPPr>
          </a:lstStyle>
          <a:p xmlns:a="http://schemas.openxmlformats.org/drawingml/2006/main">
            <a:pPr algn="l">
              <a:defRPr sz="825" b="1" i="0">
                <a:solidFill>
                  <a:srgbClr val="F2B76B"/>
                </a:solidFill>
                <a:latin typeface="Arial"/>
                <a:ea typeface="Arial"/>
                <a:cs typeface="Arial"/>
              </a:defRPr>
            </a:pPr>
            <a:r>
              <a:rPr sz="825" b="1" i="0">
                <a:solidFill>
                  <a:srgbClr val="F2B76B"/>
                </a:solidFill>
                <a:latin typeface="Arial"/>
                <a:ea typeface="Arial"/>
                <a:cs typeface="Arial"/>
              </a:rPr>
              <a:t>NEXT MILESTONE</a:t>
            </a:r>
          </a:p>
        </p:txBody>
      </p:sp>
      <p:sp>
        <p:nvSpPr>
          <p:cNvPr id="23" name="">
            <a:extLst xmlns:a="http://schemas.openxmlformats.org/drawingml/2006/main">
              <a:ext uri="{FF2B5EF4-FFF2-40B4-BE49-F238E27FC236}">
                <a16:creationId xmlns:a16="http://schemas.microsoft.com/office/drawing/2014/main" id="{4B2AE87D-DF93-4A64-9780-13FDF7982532}"/>
              </a:ext>
            </a:extLst>
          </p:cNvPr>
          <p:cNvSpPr>
            <a:spLocks xmlns:a="http://schemas.openxmlformats.org/drawingml/2006/main" noGrp="1"/>
          </p:cNvSpPr>
          <p:nvPr/>
        </p:nvSpPr>
        <p:spPr>
          <a:xfrm xmlns:a="http://schemas.openxmlformats.org/drawingml/2006/main">
            <a:off x="7153275" y="2343150"/>
            <a:ext cx="14287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7AA1560-036F-4645-AAF9-0D01877BBABA}"/>
              </a:ext>
            </a:extLst>
          </p:cNvPr>
          <p:cNvSpPr>
            <a:spLocks xmlns:a="http://schemas.openxmlformats.org/drawingml/2006/main" noGrp="1"/>
          </p:cNvSpPr>
          <p:nvPr/>
        </p:nvSpPr>
        <p:spPr>
          <a:xfrm xmlns:a="http://schemas.openxmlformats.org/drawingml/2006/main">
            <a:off x="7315200" y="1581150"/>
            <a:ext cx="2076450" cy="1676400"/>
          </a:xfrm>
          <a:prstGeom xmlns:a="http://schemas.openxmlformats.org/drawingml/2006/main" prst="roundRect">
            <a:avLst>
              <a:gd name="adj" fmla="val 7955"/>
            </a:avLst>
          </a:prstGeom>
          <a:solidFill xmlns:a="http://schemas.openxmlformats.org/drawingml/2006/main">
            <a:srgbClr val="102230"/>
          </a:solidFill>
          <a:ln xmlns:a="http://schemas.openxmlformats.org/drawingml/2006/main" w="11430">
            <a:solidFill>
              <a:srgbClr val="294353"/>
            </a:solidFill>
            <a:prstDash val="solid"/>
          </a:ln>
        </p:spPr>
      </p:sp>
      <p:sp>
        <p:nvSpPr>
          <p:cNvPr id="25" name="">
            <a:extLst xmlns:a="http://schemas.openxmlformats.org/drawingml/2006/main">
              <a:ext uri="{FF2B5EF4-FFF2-40B4-BE49-F238E27FC236}">
                <a16:creationId xmlns:a16="http://schemas.microsoft.com/office/drawing/2014/main" id="{F8B86BF7-971C-41C7-BBA5-6BE9D5E17523}"/>
              </a:ext>
            </a:extLst>
          </p:cNvPr>
          <p:cNvSpPr>
            <a:spLocks xmlns:a="http://schemas.openxmlformats.org/drawingml/2006/main" noGrp="1"/>
          </p:cNvSpPr>
          <p:nvPr/>
        </p:nvSpPr>
        <p:spPr>
          <a:xfrm xmlns:a="http://schemas.openxmlformats.org/drawingml/2006/main">
            <a:off x="7477125" y="1743075"/>
            <a:ext cx="361950" cy="361950"/>
          </a:xfrm>
          <a:prstGeom xmlns:a="http://schemas.openxmlformats.org/drawingml/2006/main" prst="roundRect">
            <a:avLst>
              <a:gd name="adj" fmla="val 50000"/>
            </a:avLst>
          </a:prstGeom>
          <a:solidFill xmlns:a="http://schemas.openxmlformats.org/drawingml/2006/main">
            <a:srgbClr val="332819"/>
          </a:solidFill>
          <a:ln xmlns:a="http://schemas.openxmlformats.org/drawingml/2006/main" w="11430">
            <a:solidFill>
              <a:srgbClr val="F2B76B"/>
            </a:solidFill>
            <a:prstDash val="solid"/>
          </a:ln>
        </p:spPr>
      </p:sp>
      <p:sp>
        <p:nvSpPr>
          <p:cNvPr id="26" name="">
            <a:extLst xmlns:a="http://schemas.openxmlformats.org/drawingml/2006/main">
              <a:ext uri="{FF2B5EF4-FFF2-40B4-BE49-F238E27FC236}">
                <a16:creationId xmlns:a16="http://schemas.microsoft.com/office/drawing/2014/main" id="{CA361B53-EA11-4371-9E6F-14F5A42AAFCB}"/>
              </a:ext>
            </a:extLst>
          </p:cNvPr>
          <p:cNvSpPr>
            <a:spLocks xmlns:a="http://schemas.openxmlformats.org/drawingml/2006/main" noGrp="1"/>
          </p:cNvSpPr>
          <p:nvPr/>
        </p:nvSpPr>
        <p:spPr>
          <a:xfrm xmlns:a="http://schemas.openxmlformats.org/drawingml/2006/main">
            <a:off x="7477125" y="1828800"/>
            <a:ext cx="361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F2B76B"/>
                </a:solidFill>
                <a:latin typeface="Arial"/>
                <a:ea typeface="Arial"/>
                <a:cs typeface="Arial"/>
              </a:defRPr>
            </a:defPPr>
          </a:lstStyle>
          <a:p xmlns:a="http://schemas.openxmlformats.org/drawingml/2006/main">
            <a:pPr algn="ctr">
              <a:defRPr sz="1050" b="1" i="0">
                <a:solidFill>
                  <a:srgbClr val="F2B76B"/>
                </a:solidFill>
                <a:latin typeface="Arial"/>
                <a:ea typeface="Arial"/>
                <a:cs typeface="Arial"/>
              </a:defRPr>
            </a:pPr>
            <a:r>
              <a:rPr sz="1050" b="1" i="0">
                <a:solidFill>
                  <a:srgbClr val="F2B76B"/>
                </a:solidFill>
                <a:latin typeface="Arial"/>
                <a:ea typeface="Arial"/>
                <a:cs typeface="Arial"/>
              </a:rPr>
              <a:t>04</a:t>
            </a:r>
          </a:p>
        </p:txBody>
      </p:sp>
      <p:sp>
        <p:nvSpPr>
          <p:cNvPr id="27" name="">
            <a:extLst xmlns:a="http://schemas.openxmlformats.org/drawingml/2006/main">
              <a:ext uri="{FF2B5EF4-FFF2-40B4-BE49-F238E27FC236}">
                <a16:creationId xmlns:a16="http://schemas.microsoft.com/office/drawing/2014/main" id="{3469F06B-3D66-4230-AE6C-A47A716E9AD6}"/>
              </a:ext>
            </a:extLst>
          </p:cNvPr>
          <p:cNvSpPr>
            <a:spLocks xmlns:a="http://schemas.openxmlformats.org/drawingml/2006/main" noGrp="1"/>
          </p:cNvSpPr>
          <p:nvPr/>
        </p:nvSpPr>
        <p:spPr>
          <a:xfrm xmlns:a="http://schemas.openxmlformats.org/drawingml/2006/main">
            <a:off x="7477125" y="2257425"/>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3F7FA"/>
                </a:solidFill>
                <a:latin typeface="Arial"/>
                <a:ea typeface="Arial"/>
                <a:cs typeface="Arial"/>
              </a:defRPr>
            </a:defPPr>
          </a:lstStyle>
          <a:p xmlns:a="http://schemas.openxmlformats.org/drawingml/2006/main">
            <a:pPr algn="l">
              <a:defRPr sz="1275" b="1" i="0">
                <a:solidFill>
                  <a:srgbClr val="F3F7FA"/>
                </a:solidFill>
                <a:latin typeface="Arial"/>
                <a:ea typeface="Arial"/>
                <a:cs typeface="Arial"/>
              </a:defRPr>
            </a:pPr>
            <a:r>
              <a:rPr sz="1275" b="1" i="0">
                <a:solidFill>
                  <a:srgbClr val="F3F7FA"/>
                </a:solidFill>
                <a:latin typeface="Arial"/>
                <a:ea typeface="Arial"/>
                <a:cs typeface="Arial"/>
              </a:rPr>
              <a:t>Test fault logic with controlled inputs</a:t>
            </a:r>
          </a:p>
        </p:txBody>
      </p:sp>
      <p:sp>
        <p:nvSpPr>
          <p:cNvPr id="28" name="">
            <a:extLst xmlns:a="http://schemas.openxmlformats.org/drawingml/2006/main">
              <a:ext uri="{FF2B5EF4-FFF2-40B4-BE49-F238E27FC236}">
                <a16:creationId xmlns:a16="http://schemas.microsoft.com/office/drawing/2014/main" id="{35DD28D0-21F1-4B5B-AA17-A2F8A5A31008}"/>
              </a:ext>
            </a:extLst>
          </p:cNvPr>
          <p:cNvSpPr>
            <a:spLocks xmlns:a="http://schemas.openxmlformats.org/drawingml/2006/main" noGrp="1"/>
          </p:cNvSpPr>
          <p:nvPr/>
        </p:nvSpPr>
        <p:spPr>
          <a:xfrm xmlns:a="http://schemas.openxmlformats.org/drawingml/2006/main">
            <a:off x="7477125" y="3009900"/>
            <a:ext cx="1752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F2B76B"/>
                </a:solidFill>
                <a:latin typeface="Arial"/>
                <a:ea typeface="Arial"/>
                <a:cs typeface="Arial"/>
              </a:defRPr>
            </a:defPPr>
          </a:lstStyle>
          <a:p xmlns:a="http://schemas.openxmlformats.org/drawingml/2006/main">
            <a:pPr algn="l">
              <a:defRPr sz="825" b="1" i="0">
                <a:solidFill>
                  <a:srgbClr val="F2B76B"/>
                </a:solidFill>
                <a:latin typeface="Arial"/>
                <a:ea typeface="Arial"/>
                <a:cs typeface="Arial"/>
              </a:defRPr>
            </a:pPr>
            <a:r>
              <a:rPr sz="825" b="1" i="0">
                <a:solidFill>
                  <a:srgbClr val="F2B76B"/>
                </a:solidFill>
                <a:latin typeface="Arial"/>
                <a:ea typeface="Arial"/>
                <a:cs typeface="Arial"/>
              </a:rPr>
              <a:t>NEXT MILESTONE</a:t>
            </a:r>
          </a:p>
        </p:txBody>
      </p:sp>
      <p:sp>
        <p:nvSpPr>
          <p:cNvPr id="29" name="">
            <a:extLst xmlns:a="http://schemas.openxmlformats.org/drawingml/2006/main">
              <a:ext uri="{FF2B5EF4-FFF2-40B4-BE49-F238E27FC236}">
                <a16:creationId xmlns:a16="http://schemas.microsoft.com/office/drawing/2014/main" id="{7D094DA8-1896-4889-B7BF-CABF59276421}"/>
              </a:ext>
            </a:extLst>
          </p:cNvPr>
          <p:cNvSpPr>
            <a:spLocks xmlns:a="http://schemas.openxmlformats.org/drawingml/2006/main" noGrp="1"/>
          </p:cNvSpPr>
          <p:nvPr/>
        </p:nvSpPr>
        <p:spPr>
          <a:xfrm xmlns:a="http://schemas.openxmlformats.org/drawingml/2006/main">
            <a:off x="9401175" y="2343150"/>
            <a:ext cx="14287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FC7DF95-B8FE-4632-AC6D-CDBC038E2809}"/>
              </a:ext>
            </a:extLst>
          </p:cNvPr>
          <p:cNvSpPr>
            <a:spLocks xmlns:a="http://schemas.openxmlformats.org/drawingml/2006/main" noGrp="1"/>
          </p:cNvSpPr>
          <p:nvPr/>
        </p:nvSpPr>
        <p:spPr>
          <a:xfrm xmlns:a="http://schemas.openxmlformats.org/drawingml/2006/main">
            <a:off x="9563100" y="1581150"/>
            <a:ext cx="2076450" cy="1676400"/>
          </a:xfrm>
          <a:prstGeom xmlns:a="http://schemas.openxmlformats.org/drawingml/2006/main" prst="roundRect">
            <a:avLst>
              <a:gd name="adj" fmla="val 7955"/>
            </a:avLst>
          </a:prstGeom>
          <a:solidFill xmlns:a="http://schemas.openxmlformats.org/drawingml/2006/main">
            <a:srgbClr val="102230"/>
          </a:solidFill>
          <a:ln xmlns:a="http://schemas.openxmlformats.org/drawingml/2006/main" w="11430">
            <a:solidFill>
              <a:srgbClr val="294353"/>
            </a:solidFill>
            <a:prstDash val="solid"/>
          </a:ln>
        </p:spPr>
      </p:sp>
      <p:sp>
        <p:nvSpPr>
          <p:cNvPr id="31" name="">
            <a:extLst xmlns:a="http://schemas.openxmlformats.org/drawingml/2006/main">
              <a:ext uri="{FF2B5EF4-FFF2-40B4-BE49-F238E27FC236}">
                <a16:creationId xmlns:a16="http://schemas.microsoft.com/office/drawing/2014/main" id="{D443C97D-BAFA-4C54-8698-229C029831F8}"/>
              </a:ext>
            </a:extLst>
          </p:cNvPr>
          <p:cNvSpPr>
            <a:spLocks xmlns:a="http://schemas.openxmlformats.org/drawingml/2006/main" noGrp="1"/>
          </p:cNvSpPr>
          <p:nvPr/>
        </p:nvSpPr>
        <p:spPr>
          <a:xfrm xmlns:a="http://schemas.openxmlformats.org/drawingml/2006/main">
            <a:off x="9725025" y="1743075"/>
            <a:ext cx="361950" cy="361950"/>
          </a:xfrm>
          <a:prstGeom xmlns:a="http://schemas.openxmlformats.org/drawingml/2006/main" prst="roundRect">
            <a:avLst>
              <a:gd name="adj" fmla="val 50000"/>
            </a:avLst>
          </a:prstGeom>
          <a:solidFill xmlns:a="http://schemas.openxmlformats.org/drawingml/2006/main">
            <a:srgbClr val="332819"/>
          </a:solidFill>
          <a:ln xmlns:a="http://schemas.openxmlformats.org/drawingml/2006/main" w="11430">
            <a:solidFill>
              <a:srgbClr val="F2B76B"/>
            </a:solidFill>
            <a:prstDash val="solid"/>
          </a:ln>
        </p:spPr>
      </p:sp>
      <p:sp>
        <p:nvSpPr>
          <p:cNvPr id="32" name="">
            <a:extLst xmlns:a="http://schemas.openxmlformats.org/drawingml/2006/main">
              <a:ext uri="{FF2B5EF4-FFF2-40B4-BE49-F238E27FC236}">
                <a16:creationId xmlns:a16="http://schemas.microsoft.com/office/drawing/2014/main" id="{A93D50DD-DB7E-46CF-A9B8-994393B18AD3}"/>
              </a:ext>
            </a:extLst>
          </p:cNvPr>
          <p:cNvSpPr>
            <a:spLocks xmlns:a="http://schemas.openxmlformats.org/drawingml/2006/main" noGrp="1"/>
          </p:cNvSpPr>
          <p:nvPr/>
        </p:nvSpPr>
        <p:spPr>
          <a:xfrm xmlns:a="http://schemas.openxmlformats.org/drawingml/2006/main">
            <a:off x="9725025" y="1828800"/>
            <a:ext cx="361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F2B76B"/>
                </a:solidFill>
                <a:latin typeface="Arial"/>
                <a:ea typeface="Arial"/>
                <a:cs typeface="Arial"/>
              </a:defRPr>
            </a:defPPr>
          </a:lstStyle>
          <a:p xmlns:a="http://schemas.openxmlformats.org/drawingml/2006/main">
            <a:pPr algn="ctr">
              <a:defRPr sz="1050" b="1" i="0">
                <a:solidFill>
                  <a:srgbClr val="F2B76B"/>
                </a:solidFill>
                <a:latin typeface="Arial"/>
                <a:ea typeface="Arial"/>
                <a:cs typeface="Arial"/>
              </a:defRPr>
            </a:pPr>
            <a:r>
              <a:rPr sz="1050" b="1" i="0">
                <a:solidFill>
                  <a:srgbClr val="F2B76B"/>
                </a:solidFill>
                <a:latin typeface="Arial"/>
                <a:ea typeface="Arial"/>
                <a:cs typeface="Arial"/>
              </a:rPr>
              <a:t>05</a:t>
            </a:r>
          </a:p>
        </p:txBody>
      </p:sp>
      <p:sp>
        <p:nvSpPr>
          <p:cNvPr id="33" name="">
            <a:extLst xmlns:a="http://schemas.openxmlformats.org/drawingml/2006/main">
              <a:ext uri="{FF2B5EF4-FFF2-40B4-BE49-F238E27FC236}">
                <a16:creationId xmlns:a16="http://schemas.microsoft.com/office/drawing/2014/main" id="{3FBB908F-DB66-488E-BA8D-B19C76CE644E}"/>
              </a:ext>
            </a:extLst>
          </p:cNvPr>
          <p:cNvSpPr>
            <a:spLocks xmlns:a="http://schemas.openxmlformats.org/drawingml/2006/main" noGrp="1"/>
          </p:cNvSpPr>
          <p:nvPr/>
        </p:nvSpPr>
        <p:spPr>
          <a:xfrm xmlns:a="http://schemas.openxmlformats.org/drawingml/2006/main">
            <a:off x="9725025" y="2257425"/>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3F7FA"/>
                </a:solidFill>
                <a:latin typeface="Arial"/>
                <a:ea typeface="Arial"/>
                <a:cs typeface="Arial"/>
              </a:defRPr>
            </a:defPPr>
          </a:lstStyle>
          <a:p xmlns:a="http://schemas.openxmlformats.org/drawingml/2006/main">
            <a:pPr algn="l">
              <a:defRPr sz="1275" b="1" i="0">
                <a:solidFill>
                  <a:srgbClr val="F3F7FA"/>
                </a:solidFill>
                <a:latin typeface="Arial"/>
                <a:ea typeface="Arial"/>
                <a:cs typeface="Arial"/>
              </a:defRPr>
            </a:pPr>
            <a:r>
              <a:rPr sz="1275" b="1" i="0">
                <a:solidFill>
                  <a:srgbClr val="F3F7FA"/>
                </a:solidFill>
                <a:latin typeface="Arial"/>
                <a:ea typeface="Arial"/>
                <a:cs typeface="Arial"/>
              </a:rPr>
              <a:t>Review reliability and safety before deployment</a:t>
            </a:r>
          </a:p>
        </p:txBody>
      </p:sp>
      <p:sp>
        <p:nvSpPr>
          <p:cNvPr id="34" name="">
            <a:extLst xmlns:a="http://schemas.openxmlformats.org/drawingml/2006/main">
              <a:ext uri="{FF2B5EF4-FFF2-40B4-BE49-F238E27FC236}">
                <a16:creationId xmlns:a16="http://schemas.microsoft.com/office/drawing/2014/main" id="{5EF3A28F-2F3E-479A-BB51-2B5C250BCAD2}"/>
              </a:ext>
            </a:extLst>
          </p:cNvPr>
          <p:cNvSpPr>
            <a:spLocks xmlns:a="http://schemas.openxmlformats.org/drawingml/2006/main" noGrp="1"/>
          </p:cNvSpPr>
          <p:nvPr/>
        </p:nvSpPr>
        <p:spPr>
          <a:xfrm xmlns:a="http://schemas.openxmlformats.org/drawingml/2006/main">
            <a:off x="9725025" y="3009900"/>
            <a:ext cx="1752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F2B76B"/>
                </a:solidFill>
                <a:latin typeface="Arial"/>
                <a:ea typeface="Arial"/>
                <a:cs typeface="Arial"/>
              </a:defRPr>
            </a:defPPr>
          </a:lstStyle>
          <a:p xmlns:a="http://schemas.openxmlformats.org/drawingml/2006/main">
            <a:pPr algn="l">
              <a:defRPr sz="825" b="1" i="0">
                <a:solidFill>
                  <a:srgbClr val="F2B76B"/>
                </a:solidFill>
                <a:latin typeface="Arial"/>
                <a:ea typeface="Arial"/>
                <a:cs typeface="Arial"/>
              </a:defRPr>
            </a:pPr>
            <a:r>
              <a:rPr sz="825" b="1" i="0">
                <a:solidFill>
                  <a:srgbClr val="F2B76B"/>
                </a:solidFill>
                <a:latin typeface="Arial"/>
                <a:ea typeface="Arial"/>
                <a:cs typeface="Arial"/>
              </a:rPr>
              <a:t>NEXT MILESTONE</a:t>
            </a:r>
          </a:p>
        </p:txBody>
      </p:sp>
      <p:sp>
        <p:nvSpPr>
          <p:cNvPr id="35" name="">
            <a:extLst xmlns:a="http://schemas.openxmlformats.org/drawingml/2006/main">
              <a:ext uri="{FF2B5EF4-FFF2-40B4-BE49-F238E27FC236}">
                <a16:creationId xmlns:a16="http://schemas.microsoft.com/office/drawing/2014/main" id="{F1D84874-A2BA-4421-8111-6C64B46C9F33}"/>
              </a:ext>
            </a:extLst>
          </p:cNvPr>
          <p:cNvSpPr>
            <a:spLocks xmlns:a="http://schemas.openxmlformats.org/drawingml/2006/main" noGrp="1"/>
          </p:cNvSpPr>
          <p:nvPr/>
        </p:nvSpPr>
        <p:spPr>
          <a:xfrm xmlns:a="http://schemas.openxmlformats.org/drawingml/2006/main">
            <a:off x="571500" y="3552825"/>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PROPOSED VALIDATION METRICS / NO RESULTS RECORDED</a:t>
            </a:r>
          </a:p>
        </p:txBody>
      </p:sp>
      <p:sp>
        <p:nvSpPr>
          <p:cNvPr id="36" name="">
            <a:extLst xmlns:a="http://schemas.openxmlformats.org/drawingml/2006/main">
              <a:ext uri="{FF2B5EF4-FFF2-40B4-BE49-F238E27FC236}">
                <a16:creationId xmlns:a16="http://schemas.microsoft.com/office/drawing/2014/main" id="{B074161B-DC91-4F9F-B1E8-75D03BBDA69C}"/>
              </a:ext>
            </a:extLst>
          </p:cNvPr>
          <p:cNvSpPr>
            <a:spLocks xmlns:a="http://schemas.openxmlformats.org/drawingml/2006/main" noGrp="1"/>
          </p:cNvSpPr>
          <p:nvPr/>
        </p:nvSpPr>
        <p:spPr>
          <a:xfrm xmlns:a="http://schemas.openxmlformats.org/drawingml/2006/main">
            <a:off x="571500" y="39433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37" name="">
            <a:extLst xmlns:a="http://schemas.openxmlformats.org/drawingml/2006/main">
              <a:ext uri="{FF2B5EF4-FFF2-40B4-BE49-F238E27FC236}">
                <a16:creationId xmlns:a16="http://schemas.microsoft.com/office/drawing/2014/main" id="{485680B3-74A2-47F5-B595-A4EF88D4902E}"/>
              </a:ext>
            </a:extLst>
          </p:cNvPr>
          <p:cNvSpPr>
            <a:spLocks xmlns:a="http://schemas.openxmlformats.org/drawingml/2006/main" noGrp="1"/>
          </p:cNvSpPr>
          <p:nvPr/>
        </p:nvSpPr>
        <p:spPr>
          <a:xfrm xmlns:a="http://schemas.openxmlformats.org/drawingml/2006/main">
            <a:off x="695325" y="40671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99CA7CF-EA62-4DD0-A6ED-25FBBE22BB8F}"/>
              </a:ext>
            </a:extLst>
          </p:cNvPr>
          <p:cNvSpPr>
            <a:spLocks xmlns:a="http://schemas.openxmlformats.org/drawingml/2006/main" noGrp="1"/>
          </p:cNvSpPr>
          <p:nvPr/>
        </p:nvSpPr>
        <p:spPr>
          <a:xfrm xmlns:a="http://schemas.openxmlformats.org/drawingml/2006/main">
            <a:off x="895350" y="40386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Voltage measurement error</a:t>
            </a:r>
          </a:p>
        </p:txBody>
      </p:sp>
      <p:sp>
        <p:nvSpPr>
          <p:cNvPr id="39" name="">
            <a:extLst xmlns:a="http://schemas.openxmlformats.org/drawingml/2006/main">
              <a:ext uri="{FF2B5EF4-FFF2-40B4-BE49-F238E27FC236}">
                <a16:creationId xmlns:a16="http://schemas.microsoft.com/office/drawing/2014/main" id="{01DDA6A2-2EFD-4FBD-8698-FBFBCF141A65}"/>
              </a:ext>
            </a:extLst>
          </p:cNvPr>
          <p:cNvSpPr>
            <a:spLocks xmlns:a="http://schemas.openxmlformats.org/drawingml/2006/main" noGrp="1"/>
          </p:cNvSpPr>
          <p:nvPr/>
        </p:nvSpPr>
        <p:spPr>
          <a:xfrm xmlns:a="http://schemas.openxmlformats.org/drawingml/2006/main">
            <a:off x="4286250" y="39433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40" name="">
            <a:extLst xmlns:a="http://schemas.openxmlformats.org/drawingml/2006/main">
              <a:ext uri="{FF2B5EF4-FFF2-40B4-BE49-F238E27FC236}">
                <a16:creationId xmlns:a16="http://schemas.microsoft.com/office/drawing/2014/main" id="{F7F3D071-9646-4A04-94E5-36E8F063584F}"/>
              </a:ext>
            </a:extLst>
          </p:cNvPr>
          <p:cNvSpPr>
            <a:spLocks xmlns:a="http://schemas.openxmlformats.org/drawingml/2006/main" noGrp="1"/>
          </p:cNvSpPr>
          <p:nvPr/>
        </p:nvSpPr>
        <p:spPr>
          <a:xfrm xmlns:a="http://schemas.openxmlformats.org/drawingml/2006/main">
            <a:off x="4410075" y="40671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F8A8340-AFFF-4EE7-85A5-C375B591C71E}"/>
              </a:ext>
            </a:extLst>
          </p:cNvPr>
          <p:cNvSpPr>
            <a:spLocks xmlns:a="http://schemas.openxmlformats.org/drawingml/2006/main" noGrp="1"/>
          </p:cNvSpPr>
          <p:nvPr/>
        </p:nvSpPr>
        <p:spPr>
          <a:xfrm xmlns:a="http://schemas.openxmlformats.org/drawingml/2006/main">
            <a:off x="4610100" y="40386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Current measurement error</a:t>
            </a:r>
          </a:p>
        </p:txBody>
      </p:sp>
      <p:sp>
        <p:nvSpPr>
          <p:cNvPr id="42" name="">
            <a:extLst xmlns:a="http://schemas.openxmlformats.org/drawingml/2006/main">
              <a:ext uri="{FF2B5EF4-FFF2-40B4-BE49-F238E27FC236}">
                <a16:creationId xmlns:a16="http://schemas.microsoft.com/office/drawing/2014/main" id="{C21E1CEA-F470-41E6-B4F6-87D0A1AD4062}"/>
              </a:ext>
            </a:extLst>
          </p:cNvPr>
          <p:cNvSpPr>
            <a:spLocks xmlns:a="http://schemas.openxmlformats.org/drawingml/2006/main" noGrp="1"/>
          </p:cNvSpPr>
          <p:nvPr/>
        </p:nvSpPr>
        <p:spPr>
          <a:xfrm xmlns:a="http://schemas.openxmlformats.org/drawingml/2006/main">
            <a:off x="8001000" y="39433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43" name="">
            <a:extLst xmlns:a="http://schemas.openxmlformats.org/drawingml/2006/main">
              <a:ext uri="{FF2B5EF4-FFF2-40B4-BE49-F238E27FC236}">
                <a16:creationId xmlns:a16="http://schemas.microsoft.com/office/drawing/2014/main" id="{FE378289-5598-47E7-B971-4A3F76F5A236}"/>
              </a:ext>
            </a:extLst>
          </p:cNvPr>
          <p:cNvSpPr>
            <a:spLocks xmlns:a="http://schemas.openxmlformats.org/drawingml/2006/main" noGrp="1"/>
          </p:cNvSpPr>
          <p:nvPr/>
        </p:nvSpPr>
        <p:spPr>
          <a:xfrm xmlns:a="http://schemas.openxmlformats.org/drawingml/2006/main">
            <a:off x="8124825" y="40671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651C30CA-8E5F-4FFF-942B-7BE08C6C4941}"/>
              </a:ext>
            </a:extLst>
          </p:cNvPr>
          <p:cNvSpPr>
            <a:spLocks xmlns:a="http://schemas.openxmlformats.org/drawingml/2006/main" noGrp="1"/>
          </p:cNvSpPr>
          <p:nvPr/>
        </p:nvSpPr>
        <p:spPr>
          <a:xfrm xmlns:a="http://schemas.openxmlformats.org/drawingml/2006/main">
            <a:off x="8324850" y="40386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Temperature measurement error</a:t>
            </a:r>
          </a:p>
        </p:txBody>
      </p:sp>
      <p:sp>
        <p:nvSpPr>
          <p:cNvPr id="45" name="">
            <a:extLst xmlns:a="http://schemas.openxmlformats.org/drawingml/2006/main">
              <a:ext uri="{FF2B5EF4-FFF2-40B4-BE49-F238E27FC236}">
                <a16:creationId xmlns:a16="http://schemas.microsoft.com/office/drawing/2014/main" id="{8929E07D-8C0D-49C0-A204-31B8A8989462}"/>
              </a:ext>
            </a:extLst>
          </p:cNvPr>
          <p:cNvSpPr>
            <a:spLocks xmlns:a="http://schemas.openxmlformats.org/drawingml/2006/main" noGrp="1"/>
          </p:cNvSpPr>
          <p:nvPr/>
        </p:nvSpPr>
        <p:spPr>
          <a:xfrm xmlns:a="http://schemas.openxmlformats.org/drawingml/2006/main">
            <a:off x="571500" y="44386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46" name="">
            <a:extLst xmlns:a="http://schemas.openxmlformats.org/drawingml/2006/main">
              <a:ext uri="{FF2B5EF4-FFF2-40B4-BE49-F238E27FC236}">
                <a16:creationId xmlns:a16="http://schemas.microsoft.com/office/drawing/2014/main" id="{480E354D-6D72-4CCB-A953-440AB2617A42}"/>
              </a:ext>
            </a:extLst>
          </p:cNvPr>
          <p:cNvSpPr>
            <a:spLocks xmlns:a="http://schemas.openxmlformats.org/drawingml/2006/main" noGrp="1"/>
          </p:cNvSpPr>
          <p:nvPr/>
        </p:nvSpPr>
        <p:spPr>
          <a:xfrm xmlns:a="http://schemas.openxmlformats.org/drawingml/2006/main">
            <a:off x="695325" y="45624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6CAED1F-7752-47DC-B5C8-D7AC5DB74DC2}"/>
              </a:ext>
            </a:extLst>
          </p:cNvPr>
          <p:cNvSpPr>
            <a:spLocks xmlns:a="http://schemas.openxmlformats.org/drawingml/2006/main" noGrp="1"/>
          </p:cNvSpPr>
          <p:nvPr/>
        </p:nvSpPr>
        <p:spPr>
          <a:xfrm xmlns:a="http://schemas.openxmlformats.org/drawingml/2006/main">
            <a:off x="895350" y="45339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End-to-end telemetry latency</a:t>
            </a:r>
          </a:p>
        </p:txBody>
      </p:sp>
      <p:sp>
        <p:nvSpPr>
          <p:cNvPr id="48" name="">
            <a:extLst xmlns:a="http://schemas.openxmlformats.org/drawingml/2006/main">
              <a:ext uri="{FF2B5EF4-FFF2-40B4-BE49-F238E27FC236}">
                <a16:creationId xmlns:a16="http://schemas.microsoft.com/office/drawing/2014/main" id="{214B26A5-C838-46EA-AF9D-A510C4B95D9B}"/>
              </a:ext>
            </a:extLst>
          </p:cNvPr>
          <p:cNvSpPr>
            <a:spLocks xmlns:a="http://schemas.openxmlformats.org/drawingml/2006/main" noGrp="1"/>
          </p:cNvSpPr>
          <p:nvPr/>
        </p:nvSpPr>
        <p:spPr>
          <a:xfrm xmlns:a="http://schemas.openxmlformats.org/drawingml/2006/main">
            <a:off x="4286250" y="44386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49" name="">
            <a:extLst xmlns:a="http://schemas.openxmlformats.org/drawingml/2006/main">
              <a:ext uri="{FF2B5EF4-FFF2-40B4-BE49-F238E27FC236}">
                <a16:creationId xmlns:a16="http://schemas.microsoft.com/office/drawing/2014/main" id="{6B72A563-E1DF-48E0-981B-C91A23780FEE}"/>
              </a:ext>
            </a:extLst>
          </p:cNvPr>
          <p:cNvSpPr>
            <a:spLocks xmlns:a="http://schemas.openxmlformats.org/drawingml/2006/main" noGrp="1"/>
          </p:cNvSpPr>
          <p:nvPr/>
        </p:nvSpPr>
        <p:spPr>
          <a:xfrm xmlns:a="http://schemas.openxmlformats.org/drawingml/2006/main">
            <a:off x="4410075" y="45624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272896B3-90F2-47F3-86E3-64AE13007D92}"/>
              </a:ext>
            </a:extLst>
          </p:cNvPr>
          <p:cNvSpPr>
            <a:spLocks xmlns:a="http://schemas.openxmlformats.org/drawingml/2006/main" noGrp="1"/>
          </p:cNvSpPr>
          <p:nvPr/>
        </p:nvSpPr>
        <p:spPr>
          <a:xfrm xmlns:a="http://schemas.openxmlformats.org/drawingml/2006/main">
            <a:off x="4610100" y="45339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Successful data-delivery rate</a:t>
            </a:r>
          </a:p>
        </p:txBody>
      </p:sp>
      <p:sp>
        <p:nvSpPr>
          <p:cNvPr id="51" name="">
            <a:extLst xmlns:a="http://schemas.openxmlformats.org/drawingml/2006/main">
              <a:ext uri="{FF2B5EF4-FFF2-40B4-BE49-F238E27FC236}">
                <a16:creationId xmlns:a16="http://schemas.microsoft.com/office/drawing/2014/main" id="{A67DB36F-D763-419C-B308-B4BA9E18BA54}"/>
              </a:ext>
            </a:extLst>
          </p:cNvPr>
          <p:cNvSpPr>
            <a:spLocks xmlns:a="http://schemas.openxmlformats.org/drawingml/2006/main" noGrp="1"/>
          </p:cNvSpPr>
          <p:nvPr/>
        </p:nvSpPr>
        <p:spPr>
          <a:xfrm xmlns:a="http://schemas.openxmlformats.org/drawingml/2006/main">
            <a:off x="8001000" y="44386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52" name="">
            <a:extLst xmlns:a="http://schemas.openxmlformats.org/drawingml/2006/main">
              <a:ext uri="{FF2B5EF4-FFF2-40B4-BE49-F238E27FC236}">
                <a16:creationId xmlns:a16="http://schemas.microsoft.com/office/drawing/2014/main" id="{12595E93-1F11-4B30-BDD0-09F5672FF90F}"/>
              </a:ext>
            </a:extLst>
          </p:cNvPr>
          <p:cNvSpPr>
            <a:spLocks xmlns:a="http://schemas.openxmlformats.org/drawingml/2006/main" noGrp="1"/>
          </p:cNvSpPr>
          <p:nvPr/>
        </p:nvSpPr>
        <p:spPr>
          <a:xfrm xmlns:a="http://schemas.openxmlformats.org/drawingml/2006/main">
            <a:off x="8124825" y="45624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45DB618A-0BEF-477F-835B-4BA127E67371}"/>
              </a:ext>
            </a:extLst>
          </p:cNvPr>
          <p:cNvSpPr>
            <a:spLocks xmlns:a="http://schemas.openxmlformats.org/drawingml/2006/main" noGrp="1"/>
          </p:cNvSpPr>
          <p:nvPr/>
        </p:nvSpPr>
        <p:spPr>
          <a:xfrm xmlns:a="http://schemas.openxmlformats.org/drawingml/2006/main">
            <a:off x="8324850" y="45339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Fault-detection correctness</a:t>
            </a:r>
          </a:p>
        </p:txBody>
      </p:sp>
      <p:sp>
        <p:nvSpPr>
          <p:cNvPr id="54" name="">
            <a:extLst xmlns:a="http://schemas.openxmlformats.org/drawingml/2006/main">
              <a:ext uri="{FF2B5EF4-FFF2-40B4-BE49-F238E27FC236}">
                <a16:creationId xmlns:a16="http://schemas.microsoft.com/office/drawing/2014/main" id="{62859B3B-5F33-4CFB-A804-4A371F77E9FD}"/>
              </a:ext>
            </a:extLst>
          </p:cNvPr>
          <p:cNvSpPr>
            <a:spLocks xmlns:a="http://schemas.openxmlformats.org/drawingml/2006/main" noGrp="1"/>
          </p:cNvSpPr>
          <p:nvPr/>
        </p:nvSpPr>
        <p:spPr>
          <a:xfrm xmlns:a="http://schemas.openxmlformats.org/drawingml/2006/main">
            <a:off x="571500" y="5076825"/>
            <a:ext cx="11049000" cy="1152525"/>
          </a:xfrm>
          <a:prstGeom xmlns:a="http://schemas.openxmlformats.org/drawingml/2006/main" prst="roundRect">
            <a:avLst>
              <a:gd name="adj" fmla="val 12397"/>
            </a:avLst>
          </a:prstGeom>
          <a:solidFill xmlns:a="http://schemas.openxmlformats.org/drawingml/2006/main">
            <a:srgbClr val="0E202D"/>
          </a:solidFill>
          <a:ln xmlns:a="http://schemas.openxmlformats.org/drawingml/2006/main" w="11430">
            <a:solidFill>
              <a:srgbClr val="244052"/>
            </a:solidFill>
            <a:prstDash val="solid"/>
          </a:ln>
        </p:spPr>
      </p:sp>
      <p:sp>
        <p:nvSpPr>
          <p:cNvPr id="55" name="">
            <a:extLst xmlns:a="http://schemas.openxmlformats.org/drawingml/2006/main">
              <a:ext uri="{FF2B5EF4-FFF2-40B4-BE49-F238E27FC236}">
                <a16:creationId xmlns:a16="http://schemas.microsoft.com/office/drawing/2014/main" id="{F6DC495D-0BC6-4794-A665-1B121E493F35}"/>
              </a:ext>
            </a:extLst>
          </p:cNvPr>
          <p:cNvSpPr>
            <a:spLocks xmlns:a="http://schemas.openxmlformats.org/drawingml/2006/main" noGrp="1"/>
          </p:cNvSpPr>
          <p:nvPr/>
        </p:nvSpPr>
        <p:spPr>
          <a:xfrm xmlns:a="http://schemas.openxmlformats.org/drawingml/2006/main">
            <a:off x="819150" y="5276850"/>
            <a:ext cx="10334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i="0">
                <a:solidFill>
                  <a:srgbClr val="F3F7FA"/>
                </a:solidFill>
                <a:latin typeface="Arial"/>
                <a:ea typeface="Arial"/>
                <a:cs typeface="Arial"/>
              </a:defRPr>
            </a:defPPr>
          </a:lstStyle>
          <a:p xmlns:a="http://schemas.openxmlformats.org/drawingml/2006/main">
            <a:pPr algn="ctr">
              <a:defRPr sz="1725" b="1" i="0">
                <a:solidFill>
                  <a:srgbClr val="F3F7FA"/>
                </a:solidFill>
                <a:latin typeface="Arial"/>
                <a:ea typeface="Arial"/>
                <a:cs typeface="Arial"/>
              </a:defRPr>
            </a:pPr>
            <a:r>
              <a:rPr sz="1725" b="1" i="0">
                <a:solidFill>
                  <a:srgbClr val="F3F7FA"/>
                </a:solidFill>
                <a:latin typeface="Arial"/>
                <a:ea typeface="Arial"/>
                <a:cs typeface="Arial"/>
              </a:rPr>
              <a:t>“Our vision is to connect reliable battery measurements with a clear, scalable and thoroughly validated monitoring experience.”</a:t>
            </a:r>
          </a:p>
        </p:txBody>
      </p:sp>
      <p:sp>
        <p:nvSpPr>
          <p:cNvPr id="56" name="">
            <a:extLst xmlns:a="http://schemas.openxmlformats.org/drawingml/2006/main">
              <a:ext uri="{FF2B5EF4-FFF2-40B4-BE49-F238E27FC236}">
                <a16:creationId xmlns:a16="http://schemas.microsoft.com/office/drawing/2014/main" id="{62CD7397-F0E8-40DE-AB86-F0706F9C4232}"/>
              </a:ext>
            </a:extLst>
          </p:cNvPr>
          <p:cNvSpPr>
            <a:spLocks xmlns:a="http://schemas.openxmlformats.org/drawingml/2006/main" noGrp="1"/>
          </p:cNvSpPr>
          <p:nvPr/>
        </p:nvSpPr>
        <p:spPr>
          <a:xfrm xmlns:a="http://schemas.openxmlformats.org/drawingml/2006/main">
            <a:off x="571500" y="63912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TARANG</a:t>
            </a:r>
          </a:p>
        </p:txBody>
      </p:sp>
      <p:sp>
        <p:nvSpPr>
          <p:cNvPr id="57" name="">
            <a:extLst xmlns:a="http://schemas.openxmlformats.org/drawingml/2006/main">
              <a:ext uri="{FF2B5EF4-FFF2-40B4-BE49-F238E27FC236}">
                <a16:creationId xmlns:a16="http://schemas.microsoft.com/office/drawing/2014/main" id="{78565A4A-BB1C-4B7A-8D8F-A2A549E00FF5}"/>
              </a:ext>
            </a:extLst>
          </p:cNvPr>
          <p:cNvSpPr>
            <a:spLocks xmlns:a="http://schemas.openxmlformats.org/drawingml/2006/main" noGrp="1"/>
          </p:cNvSpPr>
          <p:nvPr/>
        </p:nvSpPr>
        <p:spPr>
          <a:xfrm xmlns:a="http://schemas.openxmlformats.org/drawingml/2006/main">
            <a:off x="4286250" y="6391275"/>
            <a:ext cx="733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i="0">
                <a:solidFill>
                  <a:srgbClr val="A8BAC6"/>
                </a:solidFill>
                <a:latin typeface="Arial"/>
                <a:ea typeface="Arial"/>
                <a:cs typeface="Arial"/>
              </a:defRPr>
            </a:defPPr>
          </a:lstStyle>
          <a:p xmlns:a="http://schemas.openxmlformats.org/drawingml/2006/main">
            <a:pPr algn="r">
              <a:defRPr sz="975" b="0" i="0">
                <a:solidFill>
                  <a:srgbClr val="A8BAC6"/>
                </a:solidFill>
                <a:latin typeface="Arial"/>
                <a:ea typeface="Arial"/>
                <a:cs typeface="Arial"/>
              </a:defRPr>
            </a:pPr>
            <a:r>
              <a:rPr sz="975" b="0" i="0">
                <a:solidFill>
                  <a:srgbClr val="A8BAC6"/>
                </a:solidFill>
                <a:latin typeface="Arial"/>
                <a:ea typeface="Arial"/>
                <a:cs typeface="Arial"/>
              </a:rPr>
              <a:t>Software demo complete / physical integration and validation remain</a:t>
            </a:r>
          </a:p>
        </p:txBody>
      </p:sp>
    </p:spTree>
    <p:extLst>
      <p:ext uri="{BB962C8B-B14F-4D97-AF65-F5344CB8AC3E}">
        <p14:creationId xmlns:p14="http://schemas.microsoft.com/office/powerpoint/2010/main" val="650808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2026-10-09T17:15:35.5170000Z</dcterms:created>
  <dcterms:modified xsi:type="dcterms:W3CDTF">2026-10-09T17:15:35.5170000Z</dcterms:modified>
</coreProperties>
</file>